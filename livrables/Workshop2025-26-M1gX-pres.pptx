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74C8B78-1B18-8DD5-15EE-16A4368251CE}">
          <p14:sldIdLst>
            <p14:sldId id="256"/>
            <p14:sldId id="257"/>
          </p14:sldIdLst>
        </p14:section>
        <p14:section name="Le jeu" id="{5E9220E4-0DE0-73F0-1518-2C7D5D67CA31}">
          <p14:sldIdLst>
            <p14:sldId id="258"/>
            <p14:sldId id="259"/>
            <p14:sldId id="260"/>
            <p14:sldId id="261"/>
            <p14:sldId id="262"/>
          </p14:sldIdLst>
        </p14:section>
        <p14:section name="Technique" id="{8F3327CF-747D-94DE-77A9-5F1E5D304990}">
          <p14:sldIdLst>
            <p14:sldId id="263"/>
            <p14:sldId id="264"/>
            <p14:sldId id="265"/>
          </p14:sldIdLst>
        </p14:section>
        <p14:section name="Projet" id="{D62DE006-CB9F-F0EE-49C1-E2D23D858AF2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53856" autoAdjust="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869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parle : Tasha · Durée : 20 s
« Bonjour, nous sommes le groupe X et voici Black-out, notre escape game sur le thème de l'environnement. »
Accroche : « Imaginez : un saboteur pirate le chauffage, l'éclairage et les détecteurs du campus. Tel un gréviste, il veut consolider le blocus du campus, en soutien aux lycéens mobilisés, en provoquant un black-out général. Vous avez 20 minutes pour l'en empêcher… sans gaspiller d'énergie. »
On enchaîne tout de suite sur la présentation de l'équipe, en anglais.
Version 5 minutes : gardez les slides 1, 2, 3, 4, 6, 8, 10 et 12 (les autres servent pour les questions ou la version longue). Version 8 à 10 minutes : toutes les slides, environ 45 s chacune.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Speakers: all five members, about 12 seconds each, IN ENGLISH (this is the only part of the talk in English). Total: 1 minute.
Template for each person:
"Hi, I'm [first name]. I'm a fourth-year student at EPSI [+ work-study at …]. In this project, I was mainly in charge of [role]. What I enjoyed most was [one thing: wiring the sensors / the real-time chat / the touch interface / writing the puzzles / setting up the Raspberry Pi]."
Example lines:
- Romain: "I built the Arduino console: seven Modulino sensors and the Grove kit, all talking to the Raspberry Pi through a simple text protocol."
- Noa: "I wrote the game server in Node.js: it runs the timer, checks the answers and pushes everything in real time."
- Tasha: "I designed the touch interface for the 7-inch screen and the page the field agents use on their phones."
- </a:t>
            </a:r>
            <a:r>
              <a:rPr lang="en-US" dirty="0" err="1"/>
              <a:t>Killiann</a:t>
            </a:r>
            <a:r>
              <a:rPr lang="en-US" dirty="0"/>
              <a:t>: "I wrote the puzzles and the envelopes, based on real data about energy in buildings."
- Léo: "I set up the Raspberry Pi, the network, the database and our documentation."
Transition (last speaker, back to French): « Et maintenant, place au jeu.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parle : </a:t>
            </a:r>
            <a:r>
              <a:rPr lang="en-US" dirty="0" err="1"/>
              <a:t>Killiann</a:t>
            </a:r>
            <a:r>
              <a:rPr lang="en-US" dirty="0"/>
              <a:t> · Durée : 40 s
- Le sujet : des agents qui déjouent un plan lié au thème. Le nôtre : l'énergie du bâtiment.
- L'intrigue : tel un gréviste, un saboteur veut consolider le blocus du campus, en soutien aux lycéens mobilisés, en provoquant un black-out général. Il dérègle tout un mardi à 14 h 20 (l'heure est affichée sur l'écran du QG, toutes les énigmes en dépendent).
- Les joueurs découvrent cette histoire dans le briefing qui défile sur l'écran d'accueil du QG, à côté du QR code.
- Notre parti pris : on ne fabrique pas une salle d'escape game, on transforme le campus lui-même en terrain de jeu. Les joueurs se déplacent dans les vraies salles.
- Les règles en une phrase : 5 salles, 20 minutes, 3 erreurs maximum, et deux équipes qui ne peuvent pas gagner l'une sans l'autre.
Transition : « Comment ça se joue concrètement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parle : Noa · Durée : 1 min · SLIDE OBLIGATOIRE
- Le principe vient de Keep Talking and Nobody Explodes : une équipe voit, l'autre sait.
- Le QG reste au poste fixe : Raspberry Pi, écran tactile 7 pouces et console Arduino. Il voit tout mais ne connaît aucune règle.
- Les agents terrain partent dans le campus avec le plan. Dans chaque salle, une enveloppe contient les règles et les données de l'énigme.
- Ils communiquent par un chat temps réel : on scanne un QR code sur l'écran du QG, on choisit un pseudo, et c'est parti.
- La boucle de jeu : le QG observe et décrit, les agents déduisent, le QG agit sur la console. Personne ne peut gagner seul : c'est la coopération et la division des tâches demandées par le sujet.
- Chaque salle réussie : animation, LEDs arc-en-ciel et mélodie. Chaque erreur : bip et une barre rouge. 3 erreurs ou fin du chrono : black-out.
Transition : « Voyons les cinq salles.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parle : </a:t>
            </a:r>
            <a:r>
              <a:rPr lang="en-US" dirty="0" err="1"/>
              <a:t>Killiann</a:t>
            </a:r>
            <a:r>
              <a:rPr lang="en-US" dirty="0"/>
              <a:t> · Durée : 50 s
Le sujet demande des énigmes variées (logique, maths, réflexion critique) et des objets connectés : chaque salle mobilise une compétence et un capteur différents.
1. Chauffage : on calcule depuis combien d'heures la salle est vide et on applique la loi. Le QG règle la consigne à la molette.
2. Éclairage : déduction logique à partir d'un planning ; on éteint les salles vides sur les 8 LEDs.
3. Présence : un peu de trigonométrie ; le QG tient sa main à la bonne distance du capteur pendant 3 secondes.
4. Code de l'armoire : le buzzer joue un mot en morse, les agents le décodent puis le chiffrent ; le QG tape le code sur le clavier tactile.
5. Compteur : deux index, une soustraction, puis une conversion en CO₂ avec le chiffre réel de RTE.
La difficulté monte progressivement, et le QG a une aide au calcul à l'écran (les formules, pas les valeurs).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parle : </a:t>
            </a:r>
            <a:r>
              <a:rPr lang="en-US" dirty="0" err="1"/>
              <a:t>Killiann</a:t>
            </a:r>
            <a:r>
              <a:rPr lang="en-US" dirty="0"/>
              <a:t> · Durée : 1 min · SLIDE OBLIGATOIRE
- Le sujet demande des énigmes basées sur des données réelles : les nôtres viennent du Code de l'énergie (19, 16 et 8 °C), de l'ADEME (7 % d'économie par degré) et du bilan 2024 de RTE (30 g de CO₂ par kWh en cycle de vie, 21,7 g en émissions directes).
- Les plannings, capteurs et index de compteur sont inventés pour le jeu ; les règles et les chiffres de référence sont réels.
- Ce que les lycéens travaillent : déduire, calculer, et surtout se parler clairement sous la pression du chrono.
- À la fin, gagnée ou perdue, l'écran affiche un débriefing : une notion par salle et un geste concret, puis on pose la question finale aux joueurs.
- Message clé : la sobriété énergétique, ce sont des gestes simples qui se calculent.
Transition : « Côté technique, voici ce que voient les joueurs.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parle : Tasha · Durée : 40 s
- L'écran du QG fait 7 pouces (800 × 480) : tout est pensé pour le doigt, avec des boutons d'au moins 52 pixels, pas de zoom ni de sélection, et un curseur masqué.
- L'accueil réunit tout ce qu'il faut pour démarrer : le QR code des agents, le briefing de mission qui défile (un toucher le met en pause pour lire) et deux gros boutons côte à côte.
- Les joueurs savent toujours où ils en sont : salle 1 sur 5, chrono, erreurs, heure de l'histoire ; même le chat vide explique ce qui va y apparaître.
- Chaque action a un retour : animation plein écran, LEDs, mélodie de victoire, jingle de défaite. C'est ce qui maintient la tension du compte à rebours.
- Pour limiter la charge cognitive, le QG a une aide au calcul (les formules, pas les valeurs) et un clavier AZERTY familier.
- Les couleurs reprennent la charte de la CCI : rose pour les actions et les alertes, turquoise pour la réussite.
- À la fin : un score qui récompense la rapidité, un générique aux couleurs du campus CCI Eure-et-Loir (« Vous avez déjoué le blocus ! »), et une page historique des meilleurs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parle : Noa · Durée : 50 s
- À gauche, la console : une Arduino UNO R4 WiFi avec 7 modules Modulino (molette, LEDs, boutons, buzzer, distance, mouvement, température) et le Sensor Kit Grove (OLED, potentiomètre, bouton, buzzer du morse).
- Elle parle au Raspberry Pi 5 par USB : le même câble l'alimente et transporte les données.
- Sur le Pi, un serveur Node.js (Express + Socket.io + serialport) fait tourner le jeu : chrono, erreurs, validation des réponses, enchaînement des salles.
- Il pousse l'état en temps réel vers l'écran tactile du QG (Chromium en plein écran, lancé automatiquement au démarrage) et vers les téléphones des agents, sur le même Wi-Fi.
- MySQL garde l'historique des parties et les scores ; le jeu fonctionne même si la base est absente.
- Choix assumé : pas de MQTT ni de cloud, un seul serveur, moins de pièces à faire tomber en panne pendant une partie.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parle : Romain (protocole) </a:t>
            </a:r>
            <a:r>
              <a:rPr lang="en-US" dirty="0" err="1"/>
              <a:t>puis</a:t>
            </a:r>
            <a:r>
              <a:rPr lang="en-US" dirty="0"/>
              <a:t> Noa · Durée : 40 s
1. Protocole : l'Arduino envoie par exemple « KNOB 19 » quand on tourne la molette, le Pi répond « LED 3 OK » pour allumer une LED en vert. Une ligne de texte par message : on peut tout tester dans le moniteur série.
2. Validation : les écrans reçoivent seulement ce qu'ils doivent afficher. Les réponses attendues restent dans le serveur.
3. Reprise : l'état de la partie est écrit chaque seconde dans un fichier, de façon atomique (pas de fichier à moitié écrit). Le chrono n'avance que quand le serveur tourne : une coupure ne fait pas perdre de temps. Au redémarrage, on ne relance pas la partie d'office : l'accueil affiche « Partie interrompue » avec un bouton Reprendre (même salle, même chrono), ou Nouvelle partie. Testé en coupant le serveur en pleine partie.
4. Score : il récompense la vitesse et pénalise les erreurs ; il est proportionnel au temps restant, donc comparable entre une partie de 20 minutes et une démo courte.
Si le jury demande : la liste complète des commandes est en tête du sketch Arduino et dans le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parle : Léo · Durée : 50 s
- Données : les agents ne donnent qu'un pseudo ; aucune donnée personnelle n'est stockée, et le chat repart à zéro à chaque partie. L'historique ne garde que des chiffres de partie.
- Chat : messages limités, anti-spam, affichés en texte brut ; on a testé une tentative d'injection HTML.
- Seul l'écran du Pi peut lancer, réinitialiser ou simuler une partie : un téléphone qui ouvre la page du QG est en lecture seule.
- Réseau : tout passe sur le partage de connexion de l'équipe, un réseau fermé, sans exposition sur Internet.
- Chiffrement : À ADAPTER selon votre choix. Si vous avez mis HTTPS (certificat auto-signé), dites-le ici. Sinon, assumez : réseau local fermé, aucune donnée personnelle, et HTTPS identifié comme prochaine étape (le jury l'attend dans la grille « chiffrement »).
- Fiabilité : sauvegarde chaque seconde, le serveur ne plante pas si l'Arduino est débranché (il réessaie toutes les 2 s), et le jeu marche même si MySQL est absent.
- Plan de secours : image de la carte SD, enveloppes en double, et le jeu tourne aussi sur un PC portable.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parle : Léo · Durée : 30 s
- On a avancé tous ensemble, étape par étape, plutôt qu'un module par personne : chacun a touché à l'Arduino, au Pi et au code.
- Les rôles tournent toutes les heures : un pilote au clavier, un copilote qui relit, un secrétaire qui tient le journal.
- GitHub : une issue par tâche, rangée par étape, et un jalon par jour ; le journal de bord nourrit directement le dossier technique.
- À ADAPTER : citez une difficulté réelle et comment vous l'avez réglée (par exemple la configuration Git multi-comptes, le Sensor Kit sur la R4, ou le plantage EPERM sous Windows).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parle : Tasha · Durée : 20 s
« Black-out, c'est 20 minutes pour déjouer le blocus, deux équipes qui doivent se parler, cinq salles… et des gestes que les lycéens peuvent refaire dès le lendemain. »
À l'écran : le générique de victoire, fond rose CCI, logo du campus et score de l'équipe.
« Merci ! Nous avons la console avec nous : si vous voulez, on vous lance une démo de deux salles. Place à vos questions. »
Démo courte : MODULES=chauffage,eclairage DURATION=420 npm start (ou lancer une partie depuis l'écran du Pi).
Questions probables à préparer : pourquoi pas de HTTPS (ou comment), que se passe-t-il si le Pi plante, comment ajouter une salle, comment rejouer avec d'autres valeurs, combien coûte le matériel, accessibilité (daltonisme, lecture).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ombre">
    <p:bg>
      <p:bgPr>
        <a:solidFill>
          <a:srgbClr val="06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/>
                </a:solidFill>
              </a:rPr>
              <a:t>BLACK-OUT · Workshop Escape Tech · EPSI M1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 sombre">
    <p:bg>
      <p:bgPr>
        <a:solidFill>
          <a:srgbClr val="06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/>
                </a:solidFill>
              </a:rPr>
              <a:t>BLACK-OUT · Workshop Escape Tech · EPSI M1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2"/>
                </a:solidFill>
              </a:rPr>
              <a:t>WORKSHOP ESCAPE TECH · EPSI M1 · 2025-2026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29768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Tel un gréviste, un saboteur veut plonger le campus dans le noir pour consolider le blocus. Vous avez 20 minutes pour l'en empêcher… sans gaspiller.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11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Groupe Les </a:t>
            </a:r>
            <a:r>
              <a:rPr lang="en-US" sz="1400" dirty="0" err="1">
                <a:solidFill>
                  <a:schemeClr val="accent5"/>
                </a:solidFill>
              </a:rPr>
              <a:t>Goules</a:t>
            </a:r>
            <a:r>
              <a:rPr lang="en-US" sz="1400" dirty="0">
                <a:solidFill>
                  <a:schemeClr val="accent5"/>
                </a:solidFill>
              </a:rPr>
              <a:t>  ·  Thème : Environnement</a:t>
            </a:r>
            <a:endParaRPr lang="en-US" sz="1400" dirty="0"/>
          </a:p>
        </p:txBody>
      </p:sp>
      <p:sp>
        <p:nvSpPr>
          <p:cNvPr id="6" name="Cadre Écran d'accueil du QG"/>
          <p:cNvSpPr/>
          <p:nvPr/>
        </p:nvSpPr>
        <p:spPr>
          <a:xfrm>
            <a:off x="4919472" y="1078992"/>
            <a:ext cx="3831336" cy="2350008"/>
          </a:xfrm>
          <a:prstGeom prst="roundRect">
            <a:avLst>
              <a:gd name="adj" fmla="val 3113"/>
            </a:avLst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Écran d'accueil du QG" descr="Écran d'accueil du Q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143000"/>
            <a:ext cx="3703320" cy="22219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983480" y="34930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console du QG, prête à jouer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team</a:t>
            </a:r>
            <a:endParaRPr lang="en-US" sz="2800" dirty="0"/>
          </a:p>
        </p:txBody>
      </p:sp>
      <p:sp>
        <p:nvSpPr>
          <p:cNvPr id="3" name="Carte membre 1"/>
          <p:cNvSpPr/>
          <p:nvPr/>
        </p:nvSpPr>
        <p:spPr>
          <a:xfrm>
            <a:off x="457200" y="1143000"/>
            <a:ext cx="1499616" cy="274320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stille membre 1"/>
          <p:cNvSpPr/>
          <p:nvPr/>
        </p:nvSpPr>
        <p:spPr>
          <a:xfrm>
            <a:off x="841248" y="1371600"/>
            <a:ext cx="731520" cy="731520"/>
          </a:xfrm>
          <a:prstGeom prst="ellipse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cône membre 1" descr="memb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182" y="153253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402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Romain MARDARGENT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Arduino console &amp; hardware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918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Wiring, sensors, serial protocol</a:t>
            </a:r>
            <a:endParaRPr lang="en-US" sz="1100" dirty="0"/>
          </a:p>
        </p:txBody>
      </p:sp>
      <p:sp>
        <p:nvSpPr>
          <p:cNvPr id="9" name="Carte membre 2"/>
          <p:cNvSpPr/>
          <p:nvPr/>
        </p:nvSpPr>
        <p:spPr>
          <a:xfrm>
            <a:off x="2139696" y="1143000"/>
            <a:ext cx="1499616" cy="274320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Pastille membre 2"/>
          <p:cNvSpPr/>
          <p:nvPr/>
        </p:nvSpPr>
        <p:spPr>
          <a:xfrm>
            <a:off x="2523744" y="1371600"/>
            <a:ext cx="731520" cy="731520"/>
          </a:xfrm>
          <a:prstGeom prst="ellipse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cône membre 2" descr="memb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678" y="153253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31136" y="22402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Noa GUIGNOLLE</a:t>
            </a:r>
          </a:p>
        </p:txBody>
      </p:sp>
      <p:sp>
        <p:nvSpPr>
          <p:cNvPr id="13" name="Text 9"/>
          <p:cNvSpPr txBox="1"/>
          <p:nvPr/>
        </p:nvSpPr>
        <p:spPr>
          <a:xfrm>
            <a:off x="2231136" y="278892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Game server &amp; real-time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31136" y="32918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Node.js, Socket.io, game engine</a:t>
            </a:r>
            <a:endParaRPr lang="en-US" sz="1100" dirty="0"/>
          </a:p>
        </p:txBody>
      </p:sp>
      <p:sp>
        <p:nvSpPr>
          <p:cNvPr id="15" name="Carte membre 3"/>
          <p:cNvSpPr/>
          <p:nvPr/>
        </p:nvSpPr>
        <p:spPr>
          <a:xfrm>
            <a:off x="3822192" y="1143000"/>
            <a:ext cx="1499616" cy="274320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Pastille membre 3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cône membre 3" descr="memb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174" y="1532534"/>
            <a:ext cx="409651" cy="40965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13632" y="22402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Tasha BAILLY LE ROCH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3913632" y="278892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Touch UI &amp; UX design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913632" y="32918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7" screen, players' phones</a:t>
            </a:r>
            <a:endParaRPr lang="en-US" sz="1100" dirty="0"/>
          </a:p>
        </p:txBody>
      </p:sp>
      <p:sp>
        <p:nvSpPr>
          <p:cNvPr id="21" name="Carte membre 4"/>
          <p:cNvSpPr/>
          <p:nvPr/>
        </p:nvSpPr>
        <p:spPr>
          <a:xfrm>
            <a:off x="5504688" y="1143000"/>
            <a:ext cx="1499616" cy="274320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Pastille membre 4"/>
          <p:cNvSpPr/>
          <p:nvPr/>
        </p:nvSpPr>
        <p:spPr>
          <a:xfrm>
            <a:off x="5888736" y="1371600"/>
            <a:ext cx="731520" cy="731520"/>
          </a:xfrm>
          <a:prstGeom prst="ellipse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Icône membre 4" descr="memb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670" y="1532534"/>
            <a:ext cx="409651" cy="40965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96128" y="22402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chemeClr val="tx1"/>
                </a:solidFill>
              </a:rPr>
              <a:t>Killiann</a:t>
            </a:r>
            <a:r>
              <a:rPr lang="en-US" sz="1400" b="1" dirty="0">
                <a:solidFill>
                  <a:schemeClr val="tx1"/>
                </a:solidFill>
              </a:rPr>
              <a:t> ODDO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596128" y="278892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Puzzles &amp; learning content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596128" y="32918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Envelopes, real data, debrief</a:t>
            </a:r>
            <a:endParaRPr lang="en-US" sz="1100" dirty="0"/>
          </a:p>
        </p:txBody>
      </p:sp>
      <p:sp>
        <p:nvSpPr>
          <p:cNvPr id="27" name="Carte membre 5"/>
          <p:cNvSpPr/>
          <p:nvPr/>
        </p:nvSpPr>
        <p:spPr>
          <a:xfrm>
            <a:off x="7187184" y="1143000"/>
            <a:ext cx="1499616" cy="274320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Pastille membre 5"/>
          <p:cNvSpPr/>
          <p:nvPr/>
        </p:nvSpPr>
        <p:spPr>
          <a:xfrm>
            <a:off x="7571232" y="1371600"/>
            <a:ext cx="731520" cy="731520"/>
          </a:xfrm>
          <a:prstGeom prst="ellipse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9" name="Icône membre 5" descr="memb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166" y="1532534"/>
            <a:ext cx="409651" cy="40965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278624" y="224028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Léo LEBLANC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7278624" y="278892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Network, security &amp; docs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278624" y="329184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Raspberry Pi, MySQL, reports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2"/>
                </a:solidFill>
              </a:rPr>
              <a:t>An independent 5-person studio, with rotating roles: driver, co-pilot and note-taker.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campus devient l'escape game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Mardi, 14 h 20. Tel un gréviste, un saboteur veut consolider le blocus du campus, en soutien aux lycéens mobilisés : chauffage à fond, lumières partout, détecteurs déréglés, jusqu'au black-out.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Les joueurs sont des agents chargés de déjouer son plan, salle après salle, avant le black-out.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Pas de décor en carton : les vraies salles du campus et le plan d'évacuation servent de terrain de jeu.</a:t>
            </a:r>
            <a:endParaRPr lang="en-US" sz="1600" dirty="0"/>
          </a:p>
        </p:txBody>
      </p:sp>
      <p:sp>
        <p:nvSpPr>
          <p:cNvPr id="4" name="Chiffre 1"/>
          <p:cNvSpPr/>
          <p:nvPr/>
        </p:nvSpPr>
        <p:spPr>
          <a:xfrm>
            <a:off x="5029200" y="1097280"/>
            <a:ext cx="178308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166360" y="126187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166360" y="19019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salles à sécuriser</a:t>
            </a:r>
            <a:endParaRPr lang="en-US" sz="1300" dirty="0"/>
          </a:p>
        </p:txBody>
      </p:sp>
      <p:sp>
        <p:nvSpPr>
          <p:cNvPr id="7" name="Chiffre 2"/>
          <p:cNvSpPr/>
          <p:nvPr/>
        </p:nvSpPr>
        <p:spPr>
          <a:xfrm>
            <a:off x="6949440" y="1097280"/>
            <a:ext cx="178308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086600" y="126187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19019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au compte à rebours</a:t>
            </a:r>
            <a:endParaRPr lang="en-US" sz="1300" dirty="0"/>
          </a:p>
        </p:txBody>
      </p:sp>
      <p:sp>
        <p:nvSpPr>
          <p:cNvPr id="10" name="Chiffre 3"/>
          <p:cNvSpPr/>
          <p:nvPr/>
        </p:nvSpPr>
        <p:spPr>
          <a:xfrm>
            <a:off x="5029200" y="2606040"/>
            <a:ext cx="1783080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5166360" y="277063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341071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erreurs = black-out</a:t>
            </a:r>
            <a:endParaRPr lang="en-US" sz="1300" dirty="0"/>
          </a:p>
        </p:txBody>
      </p:sp>
      <p:sp>
        <p:nvSpPr>
          <p:cNvPr id="13" name="Chiffre 4"/>
          <p:cNvSpPr/>
          <p:nvPr/>
        </p:nvSpPr>
        <p:spPr>
          <a:xfrm>
            <a:off x="6949440" y="2606040"/>
            <a:ext cx="178308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7086600" y="277063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341071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équipes qui doivent se parler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Fonctionnement du jeu</a:t>
            </a:r>
            <a:endParaRPr lang="en-US" sz="2800" dirty="0"/>
          </a:p>
        </p:txBody>
      </p:sp>
      <p:sp>
        <p:nvSpPr>
          <p:cNvPr id="3" name="Carte QG"/>
          <p:cNvSpPr/>
          <p:nvPr/>
        </p:nvSpPr>
        <p:spPr>
          <a:xfrm>
            <a:off x="457200" y="1051560"/>
            <a:ext cx="30175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stille QG"/>
          <p:cNvSpPr/>
          <p:nvPr/>
        </p:nvSpPr>
        <p:spPr>
          <a:xfrm>
            <a:off x="685800" y="1234440"/>
            <a:ext cx="640080" cy="640080"/>
          </a:xfrm>
          <a:prstGeom prst="ellipse">
            <a:avLst/>
          </a:prstGeom>
          <a:solidFill>
            <a:srgbClr val="004379"/>
          </a:solidFill>
          <a:ln w="12700">
            <a:solidFill>
              <a:srgbClr val="0043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cône QG" descr="Q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37525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QG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Manipule la console : écran tactile, molette, capteurs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 connaît pas les règles</a:t>
            </a:r>
            <a:endParaRPr lang="en-US" sz="1400" dirty="0"/>
          </a:p>
        </p:txBody>
      </p:sp>
      <p:sp>
        <p:nvSpPr>
          <p:cNvPr id="8" name="Carte agents"/>
          <p:cNvSpPr/>
          <p:nvPr/>
        </p:nvSpPr>
        <p:spPr>
          <a:xfrm>
            <a:off x="5669280" y="1051560"/>
            <a:ext cx="30175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Pastille agents"/>
          <p:cNvSpPr/>
          <p:nvPr/>
        </p:nvSpPr>
        <p:spPr>
          <a:xfrm>
            <a:off x="5897880" y="1234440"/>
            <a:ext cx="640080" cy="640080"/>
          </a:xfrm>
          <a:prstGeom prst="ellipse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cône agents" descr="age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698" y="137525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7512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agents terrain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897880" y="20116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Trouvent les enveloppes cachées dans les salles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Ont les règles, pas la console</a:t>
            </a:r>
            <a:endParaRPr lang="en-US" sz="1400" dirty="0"/>
          </a:p>
        </p:txBody>
      </p:sp>
      <p:sp>
        <p:nvSpPr>
          <p:cNvPr id="13" name="Pastille chat"/>
          <p:cNvSpPr/>
          <p:nvPr/>
        </p:nvSpPr>
        <p:spPr>
          <a:xfrm>
            <a:off x="4114800" y="1417320"/>
            <a:ext cx="914400" cy="914400"/>
          </a:xfrm>
          <a:prstGeom prst="ellipse">
            <a:avLst/>
          </a:prstGeom>
          <a:solidFill>
            <a:srgbClr val="2BB6B7"/>
          </a:solidFill>
          <a:ln w="12700">
            <a:solidFill>
              <a:srgbClr val="2BB6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cône chat" descr="cha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1618488"/>
            <a:ext cx="512064" cy="5120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2044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Chat temps réel sur téléphone</a:t>
            </a:r>
            <a:endParaRPr lang="en-US" sz="1300" dirty="0"/>
          </a:p>
        </p:txBody>
      </p:sp>
      <p:sp>
        <p:nvSpPr>
          <p:cNvPr id="16" name="Flèche QG"/>
          <p:cNvSpPr/>
          <p:nvPr/>
        </p:nvSpPr>
        <p:spPr>
          <a:xfrm>
            <a:off x="3520440" y="1874520"/>
            <a:ext cx="548640" cy="0"/>
          </a:xfrm>
          <a:prstGeom prst="line">
            <a:avLst/>
          </a:prstGeom>
          <a:noFill/>
          <a:ln w="25400">
            <a:solidFill>
              <a:srgbClr val="2BB6B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7" name="Flèche agents"/>
          <p:cNvSpPr/>
          <p:nvPr/>
        </p:nvSpPr>
        <p:spPr>
          <a:xfrm>
            <a:off x="5074920" y="1874520"/>
            <a:ext cx="548640" cy="0"/>
          </a:xfrm>
          <a:prstGeom prst="line">
            <a:avLst/>
          </a:prstGeom>
          <a:noFill/>
          <a:ln w="25400">
            <a:solidFill>
              <a:srgbClr val="2BB6B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8" name="Étape Observer"/>
          <p:cNvSpPr/>
          <p:nvPr/>
        </p:nvSpPr>
        <p:spPr>
          <a:xfrm>
            <a:off x="457200" y="3657600"/>
            <a:ext cx="1920240" cy="685800"/>
          </a:xfrm>
          <a:prstGeom prst="roundRect">
            <a:avLst>
              <a:gd name="adj" fmla="val 49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4"/>
          <p:cNvSpPr txBox="1"/>
          <p:nvPr/>
        </p:nvSpPr>
        <p:spPr>
          <a:xfrm>
            <a:off x="548640" y="3657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</a:rPr>
              <a:t>1  </a:t>
            </a:r>
            <a:r>
              <a:rPr lang="en-US" sz="1600" b="1" dirty="0">
                <a:solidFill>
                  <a:schemeClr val="bg1"/>
                </a:solidFill>
              </a:rPr>
              <a:t>Observer</a:t>
            </a:r>
            <a:endParaRPr lang="en-US" sz="1600" dirty="0"/>
          </a:p>
        </p:txBody>
      </p:sp>
      <p:sp>
        <p:nvSpPr>
          <p:cNvPr id="20" name="Étape Décrire"/>
          <p:cNvSpPr/>
          <p:nvPr/>
        </p:nvSpPr>
        <p:spPr>
          <a:xfrm>
            <a:off x="2560320" y="3657600"/>
            <a:ext cx="1920240" cy="685800"/>
          </a:xfrm>
          <a:prstGeom prst="roundRect">
            <a:avLst>
              <a:gd name="adj" fmla="val 49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6"/>
          <p:cNvSpPr txBox="1"/>
          <p:nvPr/>
        </p:nvSpPr>
        <p:spPr>
          <a:xfrm>
            <a:off x="2651760" y="3657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</a:rPr>
              <a:t>2  </a:t>
            </a:r>
            <a:r>
              <a:rPr lang="en-US" sz="1600" b="1" dirty="0">
                <a:solidFill>
                  <a:schemeClr val="bg1"/>
                </a:solidFill>
              </a:rPr>
              <a:t>Décrire</a:t>
            </a:r>
            <a:endParaRPr lang="en-US" sz="1600" dirty="0"/>
          </a:p>
        </p:txBody>
      </p:sp>
      <p:sp>
        <p:nvSpPr>
          <p:cNvPr id="22" name="Étape Déduire"/>
          <p:cNvSpPr/>
          <p:nvPr/>
        </p:nvSpPr>
        <p:spPr>
          <a:xfrm>
            <a:off x="4663440" y="3657600"/>
            <a:ext cx="1920240" cy="685800"/>
          </a:xfrm>
          <a:prstGeom prst="roundRect">
            <a:avLst>
              <a:gd name="adj" fmla="val 49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18"/>
          <p:cNvSpPr txBox="1"/>
          <p:nvPr/>
        </p:nvSpPr>
        <p:spPr>
          <a:xfrm>
            <a:off x="4754880" y="3657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</a:rPr>
              <a:t>3  </a:t>
            </a:r>
            <a:r>
              <a:rPr lang="en-US" sz="1600" b="1" dirty="0">
                <a:solidFill>
                  <a:schemeClr val="bg1"/>
                </a:solidFill>
              </a:rPr>
              <a:t>Déduire</a:t>
            </a:r>
            <a:endParaRPr lang="en-US" sz="1600" dirty="0"/>
          </a:p>
        </p:txBody>
      </p:sp>
      <p:sp>
        <p:nvSpPr>
          <p:cNvPr id="24" name="Étape Agir"/>
          <p:cNvSpPr/>
          <p:nvPr/>
        </p:nvSpPr>
        <p:spPr>
          <a:xfrm>
            <a:off x="6766560" y="3657600"/>
            <a:ext cx="1920240" cy="685800"/>
          </a:xfrm>
          <a:prstGeom prst="roundRect">
            <a:avLst>
              <a:gd name="adj" fmla="val 49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0"/>
          <p:cNvSpPr txBox="1"/>
          <p:nvPr/>
        </p:nvSpPr>
        <p:spPr>
          <a:xfrm>
            <a:off x="6858000" y="3657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  Agir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salles, 5 énigmes, 5 capteurs</a:t>
            </a:r>
            <a:endParaRPr lang="en-US" sz="2800" dirty="0"/>
          </a:p>
        </p:txBody>
      </p:sp>
      <p:sp>
        <p:nvSpPr>
          <p:cNvPr id="3" name="Salle 1"/>
          <p:cNvSpPr/>
          <p:nvPr/>
        </p:nvSpPr>
        <p:spPr>
          <a:xfrm>
            <a:off x="457200" y="1005840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stille Chauffage"/>
          <p:cNvSpPr/>
          <p:nvPr/>
        </p:nvSpPr>
        <p:spPr>
          <a:xfrm>
            <a:off x="566928" y="1088136"/>
            <a:ext cx="457200" cy="457200"/>
          </a:xfrm>
          <a:prstGeom prst="ellipse">
            <a:avLst/>
          </a:prstGeom>
          <a:solidFill>
            <a:srgbClr val="004379"/>
          </a:solidFill>
          <a:ln w="12700">
            <a:solidFill>
              <a:srgbClr val="0043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cône Chauffage" descr="Chauff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188720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0058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Chauffage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063240" y="100584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Appliquer la loi : 19, 16 ou 8 °C selon les heures d'inoccupation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10058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Molette + thermomètre</a:t>
            </a:r>
            <a:endParaRPr lang="en-US" sz="1200" dirty="0"/>
          </a:p>
        </p:txBody>
      </p:sp>
      <p:sp>
        <p:nvSpPr>
          <p:cNvPr id="9" name="Salle 2"/>
          <p:cNvSpPr/>
          <p:nvPr/>
        </p:nvSpPr>
        <p:spPr>
          <a:xfrm>
            <a:off x="457200" y="1719072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Pastille Éclairage"/>
          <p:cNvSpPr/>
          <p:nvPr/>
        </p:nvSpPr>
        <p:spPr>
          <a:xfrm>
            <a:off x="566928" y="1801368"/>
            <a:ext cx="457200" cy="457200"/>
          </a:xfrm>
          <a:prstGeom prst="ellipse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cône Éclairage" descr="Éclair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190195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171907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 Éclairage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063240" y="171907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Déduire du planning quelles salles sont vides, puis les éteindre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812280" y="171907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8 LEDs + boutons</a:t>
            </a:r>
            <a:endParaRPr lang="en-US" sz="1200" dirty="0"/>
          </a:p>
        </p:txBody>
      </p:sp>
      <p:sp>
        <p:nvSpPr>
          <p:cNvPr id="15" name="Salle 3"/>
          <p:cNvSpPr/>
          <p:nvPr/>
        </p:nvSpPr>
        <p:spPr>
          <a:xfrm>
            <a:off x="457200" y="2432304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Pastille Présence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004379"/>
          </a:solidFill>
          <a:ln w="12700">
            <a:solidFill>
              <a:srgbClr val="0043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cône Présence" descr="Présen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261518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88720" y="243230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 Présence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063240" y="243230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Calculer la portée d'un détecteur : hauteur × tan(angle)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812280" y="243230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Capteur de distance</a:t>
            </a:r>
            <a:endParaRPr lang="en-US" sz="1200" dirty="0"/>
          </a:p>
        </p:txBody>
      </p:sp>
      <p:sp>
        <p:nvSpPr>
          <p:cNvPr id="21" name="Salle 4"/>
          <p:cNvSpPr/>
          <p:nvPr/>
        </p:nvSpPr>
        <p:spPr>
          <a:xfrm>
            <a:off x="457200" y="3145536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Pastille Code de l'armoire"/>
          <p:cNvSpPr/>
          <p:nvPr/>
        </p:nvSpPr>
        <p:spPr>
          <a:xfrm>
            <a:off x="566928" y="3227832"/>
            <a:ext cx="457200" cy="457200"/>
          </a:xfrm>
          <a:prstGeom prst="ellipse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Icône Code de l'armoire" descr="Code de l'armoi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332841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88720" y="314553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4. Code de l'armoire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3063240" y="314553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Décoder un mot en morse, puis le chiffrer (décalage)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812280" y="314553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Buzzer + clavier tactile</a:t>
            </a:r>
            <a:endParaRPr lang="en-US" sz="1200" dirty="0"/>
          </a:p>
        </p:txBody>
      </p:sp>
      <p:sp>
        <p:nvSpPr>
          <p:cNvPr id="27" name="Salle 5"/>
          <p:cNvSpPr/>
          <p:nvPr/>
        </p:nvSpPr>
        <p:spPr>
          <a:xfrm>
            <a:off x="457200" y="3858768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Pastille Compteur"/>
          <p:cNvSpPr/>
          <p:nvPr/>
        </p:nvSpPr>
        <p:spPr>
          <a:xfrm>
            <a:off x="566928" y="3941064"/>
            <a:ext cx="457200" cy="457200"/>
          </a:xfrm>
          <a:prstGeom prst="ellipse">
            <a:avLst/>
          </a:prstGeom>
          <a:solidFill>
            <a:srgbClr val="004379"/>
          </a:solidFill>
          <a:ln w="12700">
            <a:solidFill>
              <a:srgbClr val="0043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9" name="Icône Compteur" descr="Compteu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4041648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88720" y="3858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5. Compteur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3063240" y="38587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Chiffrer le gaspillage du week-end en kg de CO₂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6812280" y="385876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Écran OLED + potentiomètre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Apport pédagogique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Des énigmes bâties sur des données réelles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°C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417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maximum dans une salle occupée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Code de l'énergie, art. R241-26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−7 %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3774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d'énergie par degré de chauffage en moins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ADEME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375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g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3337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 CO₂ par kWh produit en France en 2024</a:t>
            </a:r>
            <a:endParaRPr lang="en-US" sz="1400" dirty="0"/>
          </a:p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RTE, bilan électrique (cycle de vie)</a:t>
            </a:r>
            <a:endParaRPr lang="en-US" sz="1400" dirty="0"/>
          </a:p>
        </p:txBody>
      </p:sp>
      <p:sp>
        <p:nvSpPr>
          <p:cNvPr id="10" name="Carte apprentissages"/>
          <p:cNvSpPr/>
          <p:nvPr/>
        </p:nvSpPr>
        <p:spPr>
          <a:xfrm>
            <a:off x="4800600" y="1005840"/>
            <a:ext cx="388620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Pastille apprentissages"/>
          <p:cNvSpPr/>
          <p:nvPr/>
        </p:nvSpPr>
        <p:spPr>
          <a:xfrm>
            <a:off x="4983480" y="1188720"/>
            <a:ext cx="548640" cy="548640"/>
          </a:xfrm>
          <a:prstGeom prst="ellipse">
            <a:avLst/>
          </a:prstGeom>
          <a:solidFill>
            <a:srgbClr val="2BB6B7"/>
          </a:solidFill>
          <a:ln w="12700">
            <a:solidFill>
              <a:srgbClr val="2BB6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cône apprentissages" descr="apprentissag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181" y="1309421"/>
            <a:ext cx="307238" cy="30723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669280" y="11887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les 15-18 ans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187452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Logique et déduction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Maths appliquées : durées, trigonométrie, conversions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Communication et coopération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Débriefing de fin : pour chaque salle, une notion et un geste pour la vraie vie.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« Quel geste de la partie pourriez-vous faire dès demain dans votre lycée ? 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interface pensée pour l'écran tactile</a:t>
            </a:r>
            <a:endParaRPr lang="en-US" sz="2800" dirty="0"/>
          </a:p>
        </p:txBody>
      </p:sp>
      <p:sp>
        <p:nvSpPr>
          <p:cNvPr id="3" name="Cadre Accueil : QR code et briefing défilant"/>
          <p:cNvSpPr/>
          <p:nvPr/>
        </p:nvSpPr>
        <p:spPr>
          <a:xfrm>
            <a:off x="438912" y="1033272"/>
            <a:ext cx="2688336" cy="1664208"/>
          </a:xfrm>
          <a:prstGeom prst="roundRect">
            <a:avLst>
              <a:gd name="adj" fmla="val 4396"/>
            </a:avLst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Accueil : QR code et briefing défilant" descr="Accueil : QR code et briefing défila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2560320" cy="15361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2715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Accueil : QR code et briefing défilant</a:t>
            </a:r>
            <a:endParaRPr lang="en-US" sz="1200" dirty="0"/>
          </a:p>
        </p:txBody>
      </p:sp>
      <p:sp>
        <p:nvSpPr>
          <p:cNvPr id="6" name="Cadre Une salle en cours, avec le chat"/>
          <p:cNvSpPr/>
          <p:nvPr/>
        </p:nvSpPr>
        <p:spPr>
          <a:xfrm>
            <a:off x="3227832" y="1033272"/>
            <a:ext cx="2688336" cy="1664208"/>
          </a:xfrm>
          <a:prstGeom prst="roundRect">
            <a:avLst>
              <a:gd name="adj" fmla="val 4396"/>
            </a:avLst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Une salle en cours, avec le chat" descr="Une salle en cours, avec le ch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097280"/>
            <a:ext cx="2560320" cy="153619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91840" y="2715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Une salle en cours, avec le chat</a:t>
            </a:r>
            <a:endParaRPr lang="en-US" sz="1200" dirty="0"/>
          </a:p>
        </p:txBody>
      </p:sp>
      <p:sp>
        <p:nvSpPr>
          <p:cNvPr id="9" name="Cadre Clavier AZERTY du code"/>
          <p:cNvSpPr/>
          <p:nvPr/>
        </p:nvSpPr>
        <p:spPr>
          <a:xfrm>
            <a:off x="6016752" y="1033272"/>
            <a:ext cx="2688336" cy="1664208"/>
          </a:xfrm>
          <a:prstGeom prst="roundRect">
            <a:avLst>
              <a:gd name="adj" fmla="val 4396"/>
            </a:avLst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Clavier AZERTY du code" descr="Clavier AZERTY du cod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097280"/>
            <a:ext cx="2560320" cy="153619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80760" y="2715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</a:rPr>
              <a:t>Clavier AZERTY du code</a:t>
            </a:r>
            <a:endParaRPr lang="en-US" sz="1200" dirty="0"/>
          </a:p>
        </p:txBody>
      </p:sp>
      <p:sp>
        <p:nvSpPr>
          <p:cNvPr id="12" name="Pastille Boutons de 52 px et plus, sans zoom"/>
          <p:cNvSpPr/>
          <p:nvPr/>
        </p:nvSpPr>
        <p:spPr>
          <a:xfrm>
            <a:off x="457200" y="3337560"/>
            <a:ext cx="502920" cy="502920"/>
          </a:xfrm>
          <a:prstGeom prst="ellipse">
            <a:avLst/>
          </a:prstGeom>
          <a:solidFill>
            <a:srgbClr val="004379"/>
          </a:solidFill>
          <a:ln w="12700">
            <a:solidFill>
              <a:srgbClr val="0043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cône Boutons de 52 px et plus, sans zoom" descr="Boutons de 52 px et plus, sans zoo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842" y="3448202"/>
            <a:ext cx="281635" cy="28163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32461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Boutons de 52 px et plus, sans zoom</a:t>
            </a:r>
            <a:endParaRPr lang="en-US" sz="1300" dirty="0"/>
          </a:p>
        </p:txBody>
      </p:sp>
      <p:sp>
        <p:nvSpPr>
          <p:cNvPr id="15" name="Pastille Retours visuels et sonores"/>
          <p:cNvSpPr/>
          <p:nvPr/>
        </p:nvSpPr>
        <p:spPr>
          <a:xfrm>
            <a:off x="2560320" y="3337560"/>
            <a:ext cx="502920" cy="502920"/>
          </a:xfrm>
          <a:prstGeom prst="ellipse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cône Retours visuels et sonores" descr="Retours visuels et sonor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0962" y="3448202"/>
            <a:ext cx="281635" cy="28163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154680" y="32461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Retours visuels et sonores</a:t>
            </a:r>
            <a:endParaRPr lang="en-US" sz="1300" dirty="0"/>
          </a:p>
        </p:txBody>
      </p:sp>
      <p:sp>
        <p:nvSpPr>
          <p:cNvPr id="18" name="Pastille Aide au calcul, sans la réponse"/>
          <p:cNvSpPr/>
          <p:nvPr/>
        </p:nvSpPr>
        <p:spPr>
          <a:xfrm>
            <a:off x="4663440" y="3337560"/>
            <a:ext cx="502920" cy="502920"/>
          </a:xfrm>
          <a:prstGeom prst="ellipse">
            <a:avLst/>
          </a:prstGeom>
          <a:solidFill>
            <a:srgbClr val="004379"/>
          </a:solidFill>
          <a:ln w="12700">
            <a:solidFill>
              <a:srgbClr val="0043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cône Aide au calcul, sans la réponse" descr="Aide au calcul, sans la répons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4082" y="3448202"/>
            <a:ext cx="281635" cy="28163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57800" y="32461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Aide au calcul, sans la réponse</a:t>
            </a:r>
            <a:endParaRPr lang="en-US" sz="1300" dirty="0"/>
          </a:p>
        </p:txBody>
      </p:sp>
      <p:sp>
        <p:nvSpPr>
          <p:cNvPr id="21" name="Pastille Couleurs de la charte CCI"/>
          <p:cNvSpPr/>
          <p:nvPr/>
        </p:nvSpPr>
        <p:spPr>
          <a:xfrm>
            <a:off x="6766560" y="3337560"/>
            <a:ext cx="502920" cy="502920"/>
          </a:xfrm>
          <a:prstGeom prst="ellipse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cône Couleurs de la charte CCI" descr="Couleurs de la charte CCI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7202" y="3448202"/>
            <a:ext cx="281635" cy="28163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360920" y="32461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Couleurs de la charte CCI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Après chaque partie : score selon la rapidité, générique de fin et historique des parties.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Bloc Arduino"/>
          <p:cNvSpPr/>
          <p:nvPr/>
        </p:nvSpPr>
        <p:spPr>
          <a:xfrm>
            <a:off x="457200" y="178308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stille Arduino"/>
          <p:cNvSpPr/>
          <p:nvPr/>
        </p:nvSpPr>
        <p:spPr>
          <a:xfrm>
            <a:off x="621792" y="2080260"/>
            <a:ext cx="548640" cy="548640"/>
          </a:xfrm>
          <a:prstGeom prst="ellipse">
            <a:avLst/>
          </a:prstGeom>
          <a:solidFill>
            <a:srgbClr val="004379"/>
          </a:solidFill>
          <a:ln w="12700">
            <a:solidFill>
              <a:srgbClr val="0043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cône Arduino" descr="Ardui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3" y="22009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783080"/>
            <a:ext cx="1581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Console Arduino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UNO R4 WiFi · 7 Modulino · 6 Grove</a:t>
            </a:r>
            <a:endParaRPr lang="en-US" sz="1500" dirty="0"/>
          </a:p>
        </p:txBody>
      </p:sp>
      <p:sp>
        <p:nvSpPr>
          <p:cNvPr id="7" name="Bloc Raspberry Pi"/>
          <p:cNvSpPr/>
          <p:nvPr/>
        </p:nvSpPr>
        <p:spPr>
          <a:xfrm>
            <a:off x="3611880" y="1783080"/>
            <a:ext cx="2377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Pastille Raspberry Pi"/>
          <p:cNvSpPr/>
          <p:nvPr/>
        </p:nvSpPr>
        <p:spPr>
          <a:xfrm>
            <a:off x="3776472" y="2080260"/>
            <a:ext cx="548640" cy="548640"/>
          </a:xfrm>
          <a:prstGeom prst="ellipse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cône Raspberry Pi" descr="Raspberry P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173" y="220096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453128" y="1783080"/>
            <a:ext cx="14447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Raspberry Pi 5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Node.js · Express · Socket.io</a:t>
            </a:r>
            <a:endParaRPr lang="en-US" sz="1500" dirty="0"/>
          </a:p>
        </p:txBody>
      </p:sp>
      <p:sp>
        <p:nvSpPr>
          <p:cNvPr id="11" name="Bloc écran"/>
          <p:cNvSpPr/>
          <p:nvPr/>
        </p:nvSpPr>
        <p:spPr>
          <a:xfrm>
            <a:off x="6537960" y="960120"/>
            <a:ext cx="21488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Pastille écran"/>
          <p:cNvSpPr/>
          <p:nvPr/>
        </p:nvSpPr>
        <p:spPr>
          <a:xfrm>
            <a:off x="6702552" y="1188720"/>
            <a:ext cx="548640" cy="548640"/>
          </a:xfrm>
          <a:prstGeom prst="ellipse">
            <a:avLst/>
          </a:prstGeom>
          <a:solidFill>
            <a:srgbClr val="004379"/>
          </a:solidFill>
          <a:ln w="12700">
            <a:solidFill>
              <a:srgbClr val="0043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cône écran" descr="écra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3253" y="130942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79208" y="960120"/>
            <a:ext cx="1216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Écran du QG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Tactile 7", Chromium</a:t>
            </a:r>
            <a:endParaRPr lang="en-US" sz="1500" dirty="0"/>
          </a:p>
        </p:txBody>
      </p:sp>
      <p:sp>
        <p:nvSpPr>
          <p:cNvPr id="15" name="Bloc téléphones"/>
          <p:cNvSpPr/>
          <p:nvPr/>
        </p:nvSpPr>
        <p:spPr>
          <a:xfrm>
            <a:off x="6537960" y="2743200"/>
            <a:ext cx="21488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Pastille téléphones"/>
          <p:cNvSpPr/>
          <p:nvPr/>
        </p:nvSpPr>
        <p:spPr>
          <a:xfrm>
            <a:off x="6702552" y="2971800"/>
            <a:ext cx="548640" cy="548640"/>
          </a:xfrm>
          <a:prstGeom prst="ellipse">
            <a:avLst/>
          </a:prstGeom>
          <a:solidFill>
            <a:srgbClr val="2BB6B7"/>
          </a:solidFill>
          <a:ln w="12700">
            <a:solidFill>
              <a:srgbClr val="2BB6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cône téléphones" descr="téléphon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3253" y="309250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79208" y="2743200"/>
            <a:ext cx="1216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Téléphones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Agents terrain, via QR code</a:t>
            </a:r>
            <a:endParaRPr lang="en-US" sz="1500" dirty="0"/>
          </a:p>
        </p:txBody>
      </p:sp>
      <p:sp>
        <p:nvSpPr>
          <p:cNvPr id="19" name="Bloc MySQL"/>
          <p:cNvSpPr/>
          <p:nvPr/>
        </p:nvSpPr>
        <p:spPr>
          <a:xfrm>
            <a:off x="3611880" y="338328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Pastille MySQL"/>
          <p:cNvSpPr/>
          <p:nvPr/>
        </p:nvSpPr>
        <p:spPr>
          <a:xfrm>
            <a:off x="3776472" y="3566160"/>
            <a:ext cx="548640" cy="548640"/>
          </a:xfrm>
          <a:prstGeom prst="ellipse">
            <a:avLst/>
          </a:prstGeom>
          <a:solidFill>
            <a:srgbClr val="2BB6B7"/>
          </a:solidFill>
          <a:ln w="12700">
            <a:solidFill>
              <a:srgbClr val="2BB6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cône MySQL" descr="MySQ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7173" y="368686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453128" y="3383280"/>
            <a:ext cx="1444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MySQL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Historique et scores</a:t>
            </a:r>
            <a:endParaRPr lang="en-US" sz="1500" dirty="0"/>
          </a:p>
        </p:txBody>
      </p:sp>
      <p:sp>
        <p:nvSpPr>
          <p:cNvPr id="23" name="Liaison série"/>
          <p:cNvSpPr/>
          <p:nvPr/>
        </p:nvSpPr>
        <p:spPr>
          <a:xfrm>
            <a:off x="2999232" y="2354580"/>
            <a:ext cx="585216" cy="0"/>
          </a:xfrm>
          <a:prstGeom prst="line">
            <a:avLst/>
          </a:prstGeom>
          <a:noFill/>
          <a:ln w="22225">
            <a:solidFill>
              <a:srgbClr val="00437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17"/>
          <p:cNvSpPr txBox="1"/>
          <p:nvPr/>
        </p:nvSpPr>
        <p:spPr>
          <a:xfrm>
            <a:off x="2743200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USB série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115 200 bauds</a:t>
            </a:r>
            <a:endParaRPr lang="en-US" sz="1000" dirty="0"/>
          </a:p>
        </p:txBody>
      </p:sp>
      <p:sp>
        <p:nvSpPr>
          <p:cNvPr id="25" name="Liaison écran"/>
          <p:cNvSpPr/>
          <p:nvPr/>
        </p:nvSpPr>
        <p:spPr>
          <a:xfrm flipV="1">
            <a:off x="6016752" y="1463040"/>
            <a:ext cx="493776" cy="502920"/>
          </a:xfrm>
          <a:prstGeom prst="line">
            <a:avLst/>
          </a:prstGeom>
          <a:noFill/>
          <a:ln w="22225">
            <a:solidFill>
              <a:srgbClr val="00437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6" name="Liaison téléphones"/>
          <p:cNvSpPr/>
          <p:nvPr/>
        </p:nvSpPr>
        <p:spPr>
          <a:xfrm>
            <a:off x="6016752" y="2651760"/>
            <a:ext cx="493776" cy="594360"/>
          </a:xfrm>
          <a:prstGeom prst="line">
            <a:avLst/>
          </a:prstGeom>
          <a:noFill/>
          <a:ln w="22225">
            <a:solidFill>
              <a:srgbClr val="00437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0"/>
          <p:cNvSpPr txBox="1"/>
          <p:nvPr/>
        </p:nvSpPr>
        <p:spPr>
          <a:xfrm>
            <a:off x="5897880" y="21214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Socket.io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temps réel</a:t>
            </a:r>
            <a:endParaRPr lang="en-US" sz="1000" dirty="0"/>
          </a:p>
        </p:txBody>
      </p:sp>
      <p:sp>
        <p:nvSpPr>
          <p:cNvPr id="28" name="Liaison base"/>
          <p:cNvSpPr/>
          <p:nvPr/>
        </p:nvSpPr>
        <p:spPr>
          <a:xfrm>
            <a:off x="4800600" y="2953512"/>
            <a:ext cx="0" cy="402336"/>
          </a:xfrm>
          <a:prstGeom prst="line">
            <a:avLst/>
          </a:prstGeom>
          <a:noFill/>
          <a:ln w="22225">
            <a:solidFill>
              <a:srgbClr val="00437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2"/>
          <p:cNvSpPr txBox="1"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Un seul serveur sur le Pi, un fichier par salle : ajouter une énigme ne touche pas au moteur.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 le capot : les algorithmes clés</a:t>
            </a:r>
            <a:endParaRPr lang="en-US" sz="2800" dirty="0"/>
          </a:p>
        </p:txBody>
      </p:sp>
      <p:sp>
        <p:nvSpPr>
          <p:cNvPr id="3" name="Algorithme 1"/>
          <p:cNvSpPr/>
          <p:nvPr/>
        </p:nvSpPr>
        <p:spPr>
          <a:xfrm>
            <a:off x="457200" y="10515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Protocole série texte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KNOB 19     ← LED 3 OK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Une commande par ligne : lisible, testable au clavier, sans librairie.</a:t>
            </a:r>
            <a:endParaRPr lang="en-US" sz="1400" dirty="0"/>
          </a:p>
        </p:txBody>
      </p:sp>
      <p:sp>
        <p:nvSpPr>
          <p:cNvPr id="6" name="Algorithme 2"/>
          <p:cNvSpPr/>
          <p:nvPr/>
        </p:nvSpPr>
        <p:spPr>
          <a:xfrm>
            <a:off x="4663440" y="10515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489204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Validation côté serveur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Les bonnes réponses ne quittent jamais le Pi : impossible de tricher en inspectant la page.</a:t>
            </a:r>
            <a:endParaRPr lang="en-US" sz="1400" dirty="0"/>
          </a:p>
        </p:txBody>
      </p:sp>
      <p:sp>
        <p:nvSpPr>
          <p:cNvPr id="9" name="Algorithme 3"/>
          <p:cNvSpPr/>
          <p:nvPr/>
        </p:nvSpPr>
        <p:spPr>
          <a:xfrm>
            <a:off x="457200" y="27889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68580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Sauvegarde et reprise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832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État écrit chaque seconde (écriture atomique). Après une coupure, l'accueil propose de la reprendre au même chrono.</a:t>
            </a:r>
            <a:endParaRPr lang="en-US" sz="1400" dirty="0"/>
          </a:p>
        </p:txBody>
      </p:sp>
      <p:sp>
        <p:nvSpPr>
          <p:cNvPr id="12" name="Algorithme 4"/>
          <p:cNvSpPr/>
          <p:nvPr/>
        </p:nvSpPr>
        <p:spPr>
          <a:xfrm>
            <a:off x="4663440" y="278892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4892040" y="2926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Score selon la rapidité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3832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1 000 + 1 000 × temps restant ÷ temps total − 150 × erreurs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Défaite : 100 points par salle sécurisée.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et fiabilité</a:t>
            </a:r>
            <a:endParaRPr lang="en-US" sz="2800" dirty="0"/>
          </a:p>
        </p:txBody>
      </p:sp>
      <p:sp>
        <p:nvSpPr>
          <p:cNvPr id="3" name="Pastille Aucune donnée personnelle"/>
          <p:cNvSpPr/>
          <p:nvPr/>
        </p:nvSpPr>
        <p:spPr>
          <a:xfrm>
            <a:off x="457200" y="1124712"/>
            <a:ext cx="566928" cy="566928"/>
          </a:xfrm>
          <a:prstGeom prst="ellipse">
            <a:avLst/>
          </a:prstGeom>
          <a:solidFill>
            <a:srgbClr val="004379"/>
          </a:solidFill>
          <a:ln w="12700">
            <a:solidFill>
              <a:srgbClr val="0043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cône Aucune donnée personnelle" descr="Aucune donnée personnel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24" y="1249436"/>
            <a:ext cx="317480" cy="317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51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Aucune donnée personnelle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Un pseudo seulement, chat effacé à chaque partie</a:t>
            </a:r>
            <a:endParaRPr lang="en-US" sz="1500" dirty="0"/>
          </a:p>
        </p:txBody>
      </p:sp>
      <p:sp>
        <p:nvSpPr>
          <p:cNvPr id="6" name="Pastille Chat protégé"/>
          <p:cNvSpPr/>
          <p:nvPr/>
        </p:nvSpPr>
        <p:spPr>
          <a:xfrm>
            <a:off x="4663440" y="1124712"/>
            <a:ext cx="566928" cy="566928"/>
          </a:xfrm>
          <a:prstGeom prst="ellipse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cône Chat protégé" descr="Chat protégé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164" y="1249436"/>
            <a:ext cx="317480" cy="317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94960" y="1051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Chat protégé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300 caractères, anti-spam, texte brut (pas d'injection)</a:t>
            </a:r>
            <a:endParaRPr lang="en-US" sz="1500" dirty="0"/>
          </a:p>
        </p:txBody>
      </p:sp>
      <p:sp>
        <p:nvSpPr>
          <p:cNvPr id="9" name="Pastille Pilotage réservé au QG"/>
          <p:cNvSpPr/>
          <p:nvPr/>
        </p:nvSpPr>
        <p:spPr>
          <a:xfrm>
            <a:off x="457200" y="2039112"/>
            <a:ext cx="566928" cy="566928"/>
          </a:xfrm>
          <a:prstGeom prst="ellipse">
            <a:avLst/>
          </a:prstGeom>
          <a:solidFill>
            <a:srgbClr val="004379"/>
          </a:solidFill>
          <a:ln w="12700">
            <a:solidFill>
              <a:srgbClr val="0043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cône Pilotage réservé au QG" descr="Pilotage réservé au Q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924" y="2163836"/>
            <a:ext cx="317480" cy="317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Pilotage réservé au QG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Les téléphones ne peuvent ni lancer, ni tricher</a:t>
            </a:r>
            <a:endParaRPr lang="en-US" sz="1500" dirty="0"/>
          </a:p>
        </p:txBody>
      </p:sp>
      <p:sp>
        <p:nvSpPr>
          <p:cNvPr id="12" name="Pastille Réseau Wi-Fi fermé"/>
          <p:cNvSpPr/>
          <p:nvPr/>
        </p:nvSpPr>
        <p:spPr>
          <a:xfrm>
            <a:off x="4663440" y="2039112"/>
            <a:ext cx="566928" cy="566928"/>
          </a:xfrm>
          <a:prstGeom prst="ellipse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cône Réseau Wi-Fi fermé" descr="Réseau Wi-Fi ferm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164" y="2163836"/>
            <a:ext cx="317480" cy="3174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39496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Réseau Wi-Fi fermé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Partage de connexion de l'équipe, rien sur Internet</a:t>
            </a:r>
            <a:endParaRPr lang="en-US" sz="1500" dirty="0"/>
          </a:p>
        </p:txBody>
      </p:sp>
      <p:sp>
        <p:nvSpPr>
          <p:cNvPr id="15" name="Pastille Reprise après incident"/>
          <p:cNvSpPr/>
          <p:nvPr/>
        </p:nvSpPr>
        <p:spPr>
          <a:xfrm>
            <a:off x="457200" y="2953512"/>
            <a:ext cx="566928" cy="566928"/>
          </a:xfrm>
          <a:prstGeom prst="ellipse">
            <a:avLst/>
          </a:prstGeom>
          <a:solidFill>
            <a:srgbClr val="004379"/>
          </a:solidFill>
          <a:ln w="12700">
            <a:solidFill>
              <a:srgbClr val="0043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cône Reprise après incident" descr="Reprise après inciden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924" y="3078236"/>
            <a:ext cx="317480" cy="3174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88720" y="2880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Reprise après incident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Sauvegarde chaque seconde, reconnexion Arduino auto</a:t>
            </a:r>
            <a:endParaRPr lang="en-US" sz="1500" dirty="0"/>
          </a:p>
        </p:txBody>
      </p:sp>
      <p:sp>
        <p:nvSpPr>
          <p:cNvPr id="18" name="Pastille Base de données"/>
          <p:cNvSpPr/>
          <p:nvPr/>
        </p:nvSpPr>
        <p:spPr>
          <a:xfrm>
            <a:off x="4663440" y="2953512"/>
            <a:ext cx="566928" cy="566928"/>
          </a:xfrm>
          <a:prstGeom prst="ellipse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cône Base de données" descr="Base de donné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8164" y="3078236"/>
            <a:ext cx="317480" cy="31748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394960" y="2880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Base de données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Requêtes préparées, droits minimaux, mot de passe hors Git</a:t>
            </a:r>
            <a:endParaRPr lang="en-US" sz="1500" dirty="0"/>
          </a:p>
        </p:txBody>
      </p:sp>
      <p:sp>
        <p:nvSpPr>
          <p:cNvPr id="21" name="Plan de secours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4"/>
          <p:cNvSpPr txBox="1"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Plan de secours  </a:t>
            </a:r>
            <a:r>
              <a:rPr lang="en-US" sz="1400" dirty="0">
                <a:solidFill>
                  <a:schemeClr val="bg1"/>
                </a:solidFill>
              </a:rPr>
              <a:t>image de la carte microSD · enveloppes de rechange · jeu installable sur un PC portable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semaine, cinq personnes, une méthode</a:t>
            </a:r>
            <a:endParaRPr lang="en-US" sz="2800" dirty="0"/>
          </a:p>
        </p:txBody>
      </p:sp>
      <p:sp>
        <p:nvSpPr>
          <p:cNvPr id="3" name="Frise"/>
          <p:cNvSpPr/>
          <p:nvPr/>
        </p:nvSpPr>
        <p:spPr>
          <a:xfrm>
            <a:off x="822960" y="1536192"/>
            <a:ext cx="7498080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Jour Lun"/>
          <p:cNvSpPr/>
          <p:nvPr/>
        </p:nvSpPr>
        <p:spPr>
          <a:xfrm>
            <a:off x="822960" y="1216152"/>
            <a:ext cx="640080" cy="640080"/>
          </a:xfrm>
          <a:prstGeom prst="ellipse">
            <a:avLst/>
          </a:prstGeom>
          <a:solidFill>
            <a:srgbClr val="004379"/>
          </a:solidFill>
          <a:ln w="12700">
            <a:solidFill>
              <a:srgbClr val="0043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22960" y="1216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Lun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Idée, matériel, Raspberry Pi, dépôt Git</a:t>
            </a:r>
            <a:endParaRPr lang="en-US" sz="1300" dirty="0"/>
          </a:p>
        </p:txBody>
      </p:sp>
      <p:sp>
        <p:nvSpPr>
          <p:cNvPr id="7" name="Jour Mar"/>
          <p:cNvSpPr/>
          <p:nvPr/>
        </p:nvSpPr>
        <p:spPr>
          <a:xfrm>
            <a:off x="2505456" y="1216152"/>
            <a:ext cx="640080" cy="640080"/>
          </a:xfrm>
          <a:prstGeom prst="ellipse">
            <a:avLst/>
          </a:prstGeom>
          <a:solidFill>
            <a:srgbClr val="004379"/>
          </a:solidFill>
          <a:ln w="12700">
            <a:solidFill>
              <a:srgbClr val="0043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505456" y="1216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Mar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39696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Console, serveur, 5 salles, chat, interface</a:t>
            </a:r>
            <a:endParaRPr lang="en-US" sz="1300" dirty="0"/>
          </a:p>
        </p:txBody>
      </p:sp>
      <p:sp>
        <p:nvSpPr>
          <p:cNvPr id="10" name="Jour Mer"/>
          <p:cNvSpPr/>
          <p:nvPr/>
        </p:nvSpPr>
        <p:spPr>
          <a:xfrm>
            <a:off x="4187952" y="1216152"/>
            <a:ext cx="640080" cy="640080"/>
          </a:xfrm>
          <a:prstGeom prst="ellipse">
            <a:avLst/>
          </a:prstGeom>
          <a:solidFill>
            <a:srgbClr val="004379"/>
          </a:solidFill>
          <a:ln w="12700">
            <a:solidFill>
              <a:srgbClr val="0043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4187952" y="1216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22192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Pi en kiosque, historique, partie test</a:t>
            </a:r>
            <a:endParaRPr lang="en-US" sz="1300" dirty="0"/>
          </a:p>
        </p:txBody>
      </p:sp>
      <p:sp>
        <p:nvSpPr>
          <p:cNvPr id="13" name="Jour Jeu"/>
          <p:cNvSpPr/>
          <p:nvPr/>
        </p:nvSpPr>
        <p:spPr>
          <a:xfrm>
            <a:off x="5870448" y="1216152"/>
            <a:ext cx="640080" cy="640080"/>
          </a:xfrm>
          <a:prstGeom prst="ellipse">
            <a:avLst/>
          </a:prstGeom>
          <a:solidFill>
            <a:srgbClr val="004379"/>
          </a:solidFill>
          <a:ln w="12700">
            <a:solidFill>
              <a:srgbClr val="0043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5870448" y="1216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Jeu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04688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Fiabilité, dossier, poster, présentation</a:t>
            </a:r>
            <a:endParaRPr lang="en-US" sz="1300" dirty="0"/>
          </a:p>
        </p:txBody>
      </p:sp>
      <p:sp>
        <p:nvSpPr>
          <p:cNvPr id="16" name="Jour Ven"/>
          <p:cNvSpPr/>
          <p:nvPr/>
        </p:nvSpPr>
        <p:spPr>
          <a:xfrm>
            <a:off x="7552944" y="1216152"/>
            <a:ext cx="640080" cy="640080"/>
          </a:xfrm>
          <a:prstGeom prst="ellipse">
            <a:avLst/>
          </a:prstGeom>
          <a:solidFill>
            <a:srgbClr val="E50043"/>
          </a:solidFill>
          <a:ln w="12700">
            <a:solidFill>
              <a:srgbClr val="E50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7552944" y="1216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Ven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87184" y="1965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Soutenance</a:t>
            </a:r>
            <a:endParaRPr lang="en-US" sz="1300" dirty="0"/>
          </a:p>
        </p:txBody>
      </p:sp>
      <p:sp>
        <p:nvSpPr>
          <p:cNvPr id="19" name="Outil GitHub"/>
          <p:cNvSpPr/>
          <p:nvPr/>
        </p:nvSpPr>
        <p:spPr>
          <a:xfrm>
            <a:off x="457200" y="306324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Pastille GitHub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2BB6B7"/>
          </a:solidFill>
          <a:ln w="12700">
            <a:solidFill>
              <a:srgbClr val="2BB6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cône GitHub" descr="GitHu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3356762"/>
            <a:ext cx="281635" cy="28163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280160" y="310896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GitHub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Une issue par tâche, un jalon par jour</a:t>
            </a:r>
            <a:endParaRPr lang="en-US" sz="1500" dirty="0"/>
          </a:p>
        </p:txBody>
      </p:sp>
      <p:sp>
        <p:nvSpPr>
          <p:cNvPr id="23" name="Outil Journal de bord"/>
          <p:cNvSpPr/>
          <p:nvPr/>
        </p:nvSpPr>
        <p:spPr>
          <a:xfrm>
            <a:off x="3246120" y="306324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Pastille Journal de bord"/>
          <p:cNvSpPr/>
          <p:nvPr/>
        </p:nvSpPr>
        <p:spPr>
          <a:xfrm>
            <a:off x="3429000" y="3246120"/>
            <a:ext cx="502920" cy="502920"/>
          </a:xfrm>
          <a:prstGeom prst="ellipse">
            <a:avLst/>
          </a:prstGeom>
          <a:solidFill>
            <a:srgbClr val="2BB6B7"/>
          </a:solidFill>
          <a:ln w="12700">
            <a:solidFill>
              <a:srgbClr val="2BB6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cône Journal de bord" descr="Journal de bo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642" y="3356762"/>
            <a:ext cx="281635" cy="281635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4069080" y="310896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Journal de bord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Une entrée par demi-journée</a:t>
            </a:r>
            <a:endParaRPr lang="en-US" sz="1500" dirty="0"/>
          </a:p>
        </p:txBody>
      </p:sp>
      <p:sp>
        <p:nvSpPr>
          <p:cNvPr id="27" name="Outil Rôles tournants"/>
          <p:cNvSpPr/>
          <p:nvPr/>
        </p:nvSpPr>
        <p:spPr>
          <a:xfrm>
            <a:off x="6035040" y="3063240"/>
            <a:ext cx="2606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Pastille Rôles tournants"/>
          <p:cNvSpPr/>
          <p:nvPr/>
        </p:nvSpPr>
        <p:spPr>
          <a:xfrm>
            <a:off x="6217920" y="3246120"/>
            <a:ext cx="502920" cy="502920"/>
          </a:xfrm>
          <a:prstGeom prst="ellipse">
            <a:avLst/>
          </a:prstGeom>
          <a:solidFill>
            <a:srgbClr val="2BB6B7"/>
          </a:solidFill>
          <a:ln w="12700">
            <a:solidFill>
              <a:srgbClr val="2BB6B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9" name="Icône Rôles tournants" descr="Rôles tournan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562" y="3356762"/>
            <a:ext cx="281635" cy="28163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858000" y="310896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Rôles tournants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Pilote, copilote, secrétaire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vous de jouer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20 minutes pour déjouer le blocus, 2 équipes, 5 salles…</a:t>
            </a:r>
            <a:endParaRPr lang="en-US" sz="18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et des gestes simples pour la vraie vie.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Démo sur la console après la présentation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!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questions ?</a:t>
            </a:r>
            <a:endParaRPr lang="en-US" sz="3200" dirty="0"/>
          </a:p>
        </p:txBody>
      </p:sp>
      <p:sp>
        <p:nvSpPr>
          <p:cNvPr id="5" name="Cadre Générique de fin"/>
          <p:cNvSpPr/>
          <p:nvPr/>
        </p:nvSpPr>
        <p:spPr>
          <a:xfrm>
            <a:off x="4782312" y="1124712"/>
            <a:ext cx="3968496" cy="2432304"/>
          </a:xfrm>
          <a:prstGeom prst="roundRect">
            <a:avLst>
              <a:gd name="adj" fmla="val 3008"/>
            </a:avLst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Générique de fin" descr="Générique de f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3840480" cy="23042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846320" y="3602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générique de fin, avec le logo du campus et le score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-out">
  <a:themeElements>
    <a:clrScheme name="Black-out">
      <a:dk1>
        <a:srgbClr val="061428"/>
      </a:dk1>
      <a:lt1>
        <a:srgbClr val="FFFFFF"/>
      </a:lt1>
      <a:dk2>
        <a:srgbClr val="004379"/>
      </a:dk2>
      <a:lt2>
        <a:srgbClr val="EEF2F7"/>
      </a:lt2>
      <a:accent1>
        <a:srgbClr val="E50043"/>
      </a:accent1>
      <a:accent2>
        <a:srgbClr val="2BB6B7"/>
      </a:accent2>
      <a:accent3>
        <a:srgbClr val="004379"/>
      </a:accent3>
      <a:accent4>
        <a:srgbClr val="FF4F7E"/>
      </a:accent4>
      <a:accent5>
        <a:srgbClr val="9FB3C8"/>
      </a:accent5>
      <a:accent6>
        <a:srgbClr val="0C2240"/>
      </a:accent6>
      <a:hlink>
        <a:srgbClr val="004379"/>
      </a:hlink>
      <a:folHlink>
        <a:srgbClr val="5B6B80"/>
      </a:folHlink>
    </a:clrScheme>
    <a:fontScheme name="Black-ou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3381</Words>
  <Application>Microsoft Office PowerPoint</Application>
  <PresentationFormat>Affichage à l'écran (16:9)</PresentationFormat>
  <Paragraphs>188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Black-out</vt:lpstr>
      <vt:lpstr>Présentation PowerPoint</vt:lpstr>
      <vt:lpstr>Meet the team</vt:lpstr>
      <vt:lpstr>Le campus devient l'escape game</vt:lpstr>
      <vt:lpstr>Fonctionnement du jeu</vt:lpstr>
      <vt:lpstr>5 salles, 5 énigmes, 5 capteurs</vt:lpstr>
      <vt:lpstr>Apport pédagogique</vt:lpstr>
      <vt:lpstr>Une interface pensée pour l'écran tactile</vt:lpstr>
      <vt:lpstr>Architecture</vt:lpstr>
      <vt:lpstr>Sous le capot : les algorithmes clés</vt:lpstr>
      <vt:lpstr>Sécurité et fiabilité</vt:lpstr>
      <vt:lpstr>Une semaine, cinq personnes, une méthode</vt:lpstr>
      <vt:lpstr>À vous de jouer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Black-out — Workshop Escape Tech</dc:title>
  <dc:subject>Soutenance du Workshop Escape Tech EPSI M1 2025-2026</dc:subject>
  <dc:creator>Groupe Black-out</dc:creator>
  <cp:lastModifiedBy>Noa GUIGNOLLE</cp:lastModifiedBy>
  <cp:revision>3</cp:revision>
  <dcterms:created xsi:type="dcterms:W3CDTF">2026-10-07T12:42:10Z</dcterms:created>
  <dcterms:modified xsi:type="dcterms:W3CDTF">2026-10-07T13:31:02Z</dcterms:modified>
</cp:coreProperties>
</file>