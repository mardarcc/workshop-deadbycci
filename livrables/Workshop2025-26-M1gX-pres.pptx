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5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media30.mp4" ContentType="video/mp4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slide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A644086-EE6D-4D0D-9120-AF2782CCECD9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Tasha · Durée : 20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« Bonjour, nous sommes le groupe X et voici Black-out, notre escape game sur le thème de l'environnement.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Accroche : « Imaginez : un saboteur pirate le chauffage, l'éclairage et les détecteurs du campus. Tel un gréviste, il veut consolider le blocus du campus, en soutien aux lycéens mobilisés, en provoquant un black-out général. Vous avez 20 minutes pour l'en empêcher… sans gaspiller d'énergie.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enchaîne tout de suite sur la présentation de l'équipe, en anglais.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 5 minutes : gardez les slides 1, 2, 3, 4, 6, 8, 10, 12 (vidéo de fin, 14 s) et 13 (les autres servent pour les questions ou la version longue). Version 8 à 10 minutes : toutes les slides, environ 45 s chacune.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578D4FD-B110-4AC7-9786-14D8301055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Speakers: all five members, about 12 seconds each, IN ENGLISH (this is the only part of the talk in English). Total: 1 minute.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Template for each person: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"Hi, I'm [first name]. I'm a fourth-year student at EPSI [+ work-study at …]. In this project, I was mainly in charge of [role]. What I enjoyed most was [one thing: wiring the sensors / the real-time chat / the touch interface / writing the puzzles / setting up the Raspberry Pi]."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Example lines: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Romain: "I built the Arduino console: seven Modulino sensors and the Grove kit, all talking to the Raspberry Pi through a simple text protocol."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Noa: "I wrote the game server in Node.js: it runs the timer, checks the answers and pushes everything in real time."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Tasha: "I designed the touch interface for the 7-inch screen and the page the field agents use on their phones."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Killiann: "I wrote the puzzles and the envelopes, based on real data about energy in buildings."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Léo: "I set up the Raspberry Pi, the network, the database and our documentation."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 (last speaker, back to French): « Et maintenant, place au jeu.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AE6ACB5-5612-4611-B4BC-35F72FA7F72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Killiann · Durée : 40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 sujet : des agents qui déjouent un plan lié au thème. Le nôtre : l'énergie du bâtiment.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L'intrigue : tel un gréviste, un saboteur veut consolider le blocus du campus, en soutien aux lycéens mobilisés, en provoquant un black-out général. Il dérègle tout un mardi à 14 h 20 (l'heure est affichée sur l'écran du QG, toutes les énigmes en dépendent).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Les joueurs découvrent cette histoire dans le briefing qui défile sur l'écran d'accueil du QG, à côté du QR code.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Notre parti pris : on ne fabrique pas une salle d'escape game, on transforme le campus lui-même en terrain de jeu. Les joueurs se déplacent dans les vraies salles.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Les règles en une phrase : 5 salles, 20 minutes, 3 erreurs maximum, et deux équipes qui ne peuvent pas gagner l'une sans l'autre.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 : « Comment ça se joue concrètement ?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FF15A23-48BA-40B1-A547-07D21D9F6CD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Noa · Durée : 1 min · SLIDE OBLIGATOIRE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 principe vient de Keep Talking and Nobody Explodes : une équipe voit, l'autre sait.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 QG reste au poste fixe : Raspberry Pi, écran tactile 7 pouces et console Arduino. Il voit tout mais ne connaît aucune règle.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Les agents terrain partent dans le campus avec le plan. Dans chaque salle, une enveloppe contient les règles et les données de l'énigme.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Ils communiquent par un chat temps réel : on scanne un QR code sur l'écran du QG, on choisit un pseudo, et c'est parti.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 boucle de jeu : le QG observe et décrit, les agents déduisent, le QG agit sur la console. Personne ne peut gagner seul : c'est la coopération et la division des tâches demandées par le sujet.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Chaque salle réussie : animation, LEDs arc-en-ciel et mélodie. Chaque erreur : bip et une barre rouge. 3 erreurs ou fin du chrono : black-out.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 : « Voyons les cinq salles.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606AF48-538B-4C51-91A6-A7BB4200D46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Killiann · Durée : 50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 sujet demande des énigmes variées (logique, maths, réflexion critique) et des objets connectés : chaque salle mobilise une compétence et un capteur différents.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Chauffage : on calcule depuis combien d'heures la salle est vide et on applique la loi. Le QG règle la consigne à la molette.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Éclairage : déduction logique à partir d'un planning ; on éteint les salles vides sur les 8 LEDs.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Présence : un peu de trigonométrie ; le QG tient sa main à la bonne distance du capteur pendant 3 secondes.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Code de l'armoire : le buzzer joue un mot en morse, les agents le décodent puis le chiffrent ; le QG tape le code sur le clavier tactile.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Compteur : deux index, une soustraction, puis une conversion en CO₂ avec le chiffre réel de RTE.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difficulté monte progressivement, et le QG a une aide au calcul à l'écran (les formules, pas les valeurs).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98D1FF-DC01-4751-928B-CD5C298B63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Killiann · Durée : 1 min · SLIDE OBLIGATOIRE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 sujet demande des énigmes basées sur des données réelles : les nôtres viennent du Code de l'énergie (19, 16 et 8 °C), de l'ADEME (7 % d'économie par degré) et du bilan 2024 de RTE (30 g de CO₂ par kWh en cycle de vie, 21,7 g en émissions directes).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Les plannings, capteurs et index de compteur sont inventés pour le jeu ; les règles et les chiffres de référence sont réels.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Ce que les lycéens travaillent : déduire, calculer, et surtout se parler clairement sous la pression du chrono.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À la fin, gagnée ou perdue, l'écran affiche un débriefing : une notion par salle et un geste concret, puis on pose la question finale aux joueurs.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Message clé : la sobriété énergétique, ce sont des gestes simples qui se calculent.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 : « Côté technique, voici ce que voient les joueurs.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6CF36E-5C30-48EB-A99E-ECADE9C6E3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Tasha · Durée : 40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L'écran du QG fait 7 pouces (800 × 480) : tout est pensé pour le doigt, avec des boutons d'au moins 52 pixels, pas de zoom ni de sélection, et un curseur masqué.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L'accueil réunit tout ce qu'il faut pour démarrer : le QR code des agents, le briefing de mission qui défile (un toucher le met en pause pour lire) et deux gros boutons côte à côte.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Les joueurs savent toujours où ils en sont : salle 1 sur 5, chrono, erreurs, heure de l'histoire ; même le chat vide explique ce qui va y apparaître.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Chaque action a un retour : animation plein écran, LEDs, mélodie de victoire, jingle de défaite. C'est ce qui maintient la tension du compte à rebours.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Pour limiter la charge cognitive, le QG a une aide au calcul (les formules, pas les valeurs) et un clavier AZERTY familier.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Les couleurs reprennent la charte de la CCI : rose pour les actions et les alertes, turquoise pour la réussite.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À la fin : un score qui récompense la rapidité, un générique aux couleurs du campus CCI Eure-et-Loir (« Vous avez déjoué le blocus ! »), et une page historique des meilleurs scores.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8ADFEE-0790-4A2F-869C-2EA3F584110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Noa · Durée : 50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À gauche, la console : une Arduino UNO R4 WiFi avec 7 modules Modulino (molette, LEDs, boutons, buzzer, distance, mouvement, température) et le Sensor Kit Grove (OLED, potentiomètre, bouton, buzzer du morse).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Elle parle au Raspberry Pi 5 par USB : le même câble l'alimente et transporte les données.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Sur le Pi, un serveur Node.js (Express + Socket.io + serialport) fait tourner le jeu : chrono, erreurs, validation des réponses, enchaînement des salles.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Il pousse l'état en temps réel vers l'écran tactile du QG (Chromium en plein écran, lancé automatiquement au démarrage) et vers les téléphones des agents, sur le même Wi-Fi.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MySQL garde l'historique des parties et les scores ; le jeu fonctionne même si la base est absente.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Choix assumé : pas de MQTT ni de cloud, un seul serveur, moins de pièces à faire tomber en panne pendant une partie.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D54D702-2D83-4509-A419-FE9784CF58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Romain (protocole) puis Noa · Durée : 40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Protocole : l'Arduino envoie par exemple « KNOB 19 » quand on tourne la molette, le Pi répond « LED 3 OK » pour allumer une LED en vert. Une ligne de texte par message : on peut tout tester dans le moniteur série.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Validation : les écrans reçoivent seulement ce qu'ils doivent afficher. Les réponses attendues restent dans le serveur.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Reprise : l'état de la partie est écrit chaque seconde dans un fichier, de façon atomique (pas de fichier à moitié écrit). Le chrono n'avance que quand le serveur tourne : une coupure ne fait pas perdre de temps. Au redémarrage, on ne relance pas la partie d'office : l'accueil affiche « Partie interrompue » avec un bouton Reprendre (même salle, même chrono), ou Nouvelle partie. Testé en coupant le serveur en pleine partie.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Score : il récompense la vitesse et pénalise les erreurs ; il est proportionnel au temps restant, donc comparable entre une partie de 20 minutes et une démo courte.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le jury demande : la liste complète des commandes est en tête du sketch Arduino et dans le dossier.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103787-F64A-4E39-B9CD-A196D34A92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Léo · Durée : 50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Données : les agents ne donnent qu'un pseudo ; aucune donnée personnelle n'est stockée, et le chat repart à zéro à chaque partie. L'historique ne garde que des chiffres de partie.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Chat : messages limités, anti-spam, affichés en texte brut ; on a testé une tentative d'injection HTML.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Seul l'écran du Pi peut lancer, réinitialiser ou simuler une partie : un téléphone qui ouvre la page du QG est en lecture seule.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Réseau : tout passe sur le partage de connexion de l'équipe, un réseau fermé, sans exposition sur Internet.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Chiffrement : À ADAPTER selon votre choix. Si vous avez mis HTTPS (certificat auto-signé), dites-le ici. Sinon, assumez : réseau local fermé, aucune donnée personnelle, et HTTPS identifié comme prochaine étape (le jury l'attend dans la grille « chiffrement »).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Fiabilité : sauvegarde chaque seconde, le serveur ne plante pas si l'Arduino est débranché (il réessaie toutes les 2 s), et le jeu marche même si MySQL est absent.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Plan de secours : image de la carte SD, enveloppes en double, et le jeu tourne aussi sur un PC portable.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AB540BD-9ED0-4016-AFB5-2AFD6AB27B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Léo · Durée : 30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On a avancé tous ensemble, étape par étape, plutôt qu'un module par personne : chacun a touché à l'Arduino, au Pi et au code.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Les rôles tournent toutes les heures : un pilote au clavier, un copilote qui relit, un secrétaire qui tient le journal.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GitHub : une issue par tâche, rangée par étape, et un jalon par jour ; le journal de bord nourrit directement le dossier technique.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À ADAPTER : citez une difficulté réelle et comment vous l'avez réglée (par exemple la configuration Git multi-comptes, le Sensor Kit sur la R4, ou le plantage EPERM sous Windows).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835F20D-BD80-4BA4-AFD3-82F20B3607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personne · Durée : 14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vidéo se lance toute seule à l'arrivée sur la slide, avec le son : vérifiez le volume de l'ordinateur avant la soutenance. On la laisse jouer en entier, puis on passe à la slide « À vous de jouer » pour les questions.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 elle ne démarre pas (selon la version de PowerPoint) : un clic sur la vidéo la lance.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9B92C69-FA34-455B-978C-22B751C4ECD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Qui parle : Tasha · Durée : 20 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« Black-out, c'est 20 minutes pour déjouer le blocus, deux équipes qui doivent se parler, cinq salles… et des gestes que les lycéens peuvent refaire dès le lendemain.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À l'écran : le générique de victoire, fond rose CCI, logo du campus et score de l'équipe.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« Merci ! Nous avons la console avec nous : si vous voulez, on vous lance une démo de deux salles. Place à vos questions. »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Démo courte : MODULES=chauffage,eclairage DURATION=420 npm start (ou lancer une partie depuis l'écran du Pi).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Questions probables à préparer : pourquoi pas de HTTPS (ou comment), que se passe-t-il si le Pi plante, comment ajouter une salle, comment rejouer avec d'autres valeurs, combien coûte le matériel, accessibilité (daltonisme, lecture).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BE15B24-0DD8-4D0D-841B-E2A9981134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re sombre">
    <p:bg>
      <p:bgPr>
        <a:solidFill>
          <a:srgbClr val="06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457200" y="480060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BLACK-OUT · Workshop </a:t>
            </a:r>
            <a:r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Escape Tech · EPSI M1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mat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1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51AFDD6-2482-4F93-8B5F-C459821A47DA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fr-F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fr-F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fr-F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 sombre">
    <p:bg>
      <p:bgPr>
        <a:solidFill>
          <a:srgbClr val="06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457200" y="4800600"/>
            <a:ext cx="54860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BLACK-OUT · </a:t>
            </a:r>
            <a:r>
              <a: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Workshop </a:t>
            </a:r>
            <a:r>
              <a: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Escape Tech · </a:t>
            </a:r>
            <a:r>
              <a: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EPSI M1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>
              <a:buNone/>
              <a:def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the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text </a:t>
            </a:r>
            <a:r>
              <a:rPr lang="fr-F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2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7AA88B8-9F01-4CB5-AFC1-2BACA87915A3}" type="slidenum">
              <a: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1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video" Target="../media/media30.mp4"/><Relationship Id="rId2" Type="http://schemas.microsoft.com/office/2007/relationships/media" Target="../media/media30.mp4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0"/>
          <p:cNvSpPr/>
          <p:nvPr/>
        </p:nvSpPr>
        <p:spPr>
          <a:xfrm>
            <a:off x="548640" y="868680"/>
            <a:ext cx="4205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chemeClr val="accent2"/>
                </a:solidFill>
                <a:effectLst/>
                <a:uFillTx/>
                <a:latin typeface="Calibri"/>
              </a:rPr>
              <a:t>WORKSHOP ESCAPE TECH · EPSI M1 · 2026-2028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"/>
          <p:cNvSpPr/>
          <p:nvPr/>
        </p:nvSpPr>
        <p:spPr>
          <a:xfrm>
            <a:off x="548640" y="1234440"/>
            <a:ext cx="4297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BLACK</a:t>
            </a:r>
            <a:r>
              <a:rPr lang="en-US" sz="44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-</a:t>
            </a:r>
            <a:r>
              <a:rPr lang="en-US" sz="44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OUT</a:t>
            </a:r>
            <a:endParaRPr lang="fr-FR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548640" y="2194560"/>
            <a:ext cx="41144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Tel un gréviste, un saboteur veut plonger le campus dans le noir pour consolider le blocus. Vous avez 20 minutes pour l'en empêcher… sans gaspiller.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3"/>
          <p:cNvSpPr/>
          <p:nvPr/>
        </p:nvSpPr>
        <p:spPr>
          <a:xfrm>
            <a:off x="548640" y="361188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Groupe Les Goules  ·  Thème : Environnement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Cadre Écran d'accueil du QG"/>
          <p:cNvSpPr/>
          <p:nvPr/>
        </p:nvSpPr>
        <p:spPr>
          <a:xfrm>
            <a:off x="4919400" y="1078920"/>
            <a:ext cx="3831120" cy="2349720"/>
          </a:xfrm>
          <a:prstGeom prst="roundRect">
            <a:avLst>
              <a:gd name="adj" fmla="val 3113"/>
            </a:avLst>
          </a:prstGeom>
          <a:solidFill>
            <a:srgbClr val="0A0F1A"/>
          </a:solidFill>
          <a:ln w="12700">
            <a:solidFill>
              <a:srgbClr val="0A0F1A"/>
            </a:solidFill>
            <a:round/>
          </a:ln>
          <a:effectLst>
            <a:outerShdw algn="bl" blurRad="101520" dir="5400000" dist="38160" rotWithShape="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" name="Écran d'accueil du QG" descr="Écran d'accueil du QG"/>
          <p:cNvPicPr/>
          <p:nvPr/>
        </p:nvPicPr>
        <p:blipFill>
          <a:blip r:embed="rId1"/>
          <a:stretch/>
        </p:blipFill>
        <p:spPr>
          <a:xfrm>
            <a:off x="4983480" y="1143000"/>
            <a:ext cx="3702960" cy="222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5"/>
          <p:cNvSpPr/>
          <p:nvPr/>
        </p:nvSpPr>
        <p:spPr>
          <a:xfrm>
            <a:off x="4983480" y="3493080"/>
            <a:ext cx="3702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La console du QG, prête à jouer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fade thruBlk="true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Meet the team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Carte membre 1"/>
          <p:cNvSpPr/>
          <p:nvPr/>
        </p:nvSpPr>
        <p:spPr>
          <a:xfrm>
            <a:off x="457200" y="1143000"/>
            <a:ext cx="1499400" cy="27428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astille membre 1"/>
          <p:cNvSpPr/>
          <p:nvPr/>
        </p:nvSpPr>
        <p:spPr>
          <a:xfrm>
            <a:off x="841320" y="1371600"/>
            <a:ext cx="731160" cy="73116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7" name="Icône membre 1" descr="membre 1"/>
          <p:cNvPicPr/>
          <p:nvPr/>
        </p:nvPicPr>
        <p:blipFill>
          <a:blip r:embed="rId1"/>
          <a:stretch/>
        </p:blipFill>
        <p:spPr>
          <a:xfrm>
            <a:off x="1002240" y="153252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Text 3"/>
          <p:cNvSpPr/>
          <p:nvPr/>
        </p:nvSpPr>
        <p:spPr>
          <a:xfrm>
            <a:off x="548640" y="224028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Romain MARDARGENT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4"/>
          <p:cNvSpPr/>
          <p:nvPr/>
        </p:nvSpPr>
        <p:spPr>
          <a:xfrm>
            <a:off x="548640" y="278892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Arduino console &amp; hardware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5"/>
          <p:cNvSpPr/>
          <p:nvPr/>
        </p:nvSpPr>
        <p:spPr>
          <a:xfrm>
            <a:off x="548640" y="3291840"/>
            <a:ext cx="131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Wiring, sensors, serial protocol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Carte membre 2"/>
          <p:cNvSpPr/>
          <p:nvPr/>
        </p:nvSpPr>
        <p:spPr>
          <a:xfrm>
            <a:off x="2139840" y="1143000"/>
            <a:ext cx="1499400" cy="27428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astille membre 2"/>
          <p:cNvSpPr/>
          <p:nvPr/>
        </p:nvSpPr>
        <p:spPr>
          <a:xfrm>
            <a:off x="2523600" y="1371600"/>
            <a:ext cx="731160" cy="73116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3" name="Icône membre 2" descr="membre 2"/>
          <p:cNvPicPr/>
          <p:nvPr/>
        </p:nvPicPr>
        <p:blipFill>
          <a:blip r:embed="rId2"/>
          <a:stretch/>
        </p:blipFill>
        <p:spPr>
          <a:xfrm>
            <a:off x="2684520" y="153252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8"/>
          <p:cNvSpPr/>
          <p:nvPr/>
        </p:nvSpPr>
        <p:spPr>
          <a:xfrm>
            <a:off x="2231280" y="224028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Noa GUIGNOLLE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2231280" y="278892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Game server &amp; real-time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2231280" y="3291840"/>
            <a:ext cx="131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Node.js, Socket.io, game engine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Carte membre 3"/>
          <p:cNvSpPr/>
          <p:nvPr/>
        </p:nvSpPr>
        <p:spPr>
          <a:xfrm>
            <a:off x="3822120" y="1143000"/>
            <a:ext cx="1499400" cy="27428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astille membre 3"/>
          <p:cNvSpPr/>
          <p:nvPr/>
        </p:nvSpPr>
        <p:spPr>
          <a:xfrm>
            <a:off x="4206240" y="1371600"/>
            <a:ext cx="731160" cy="73116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9" name="Icône membre 3" descr="membre 3"/>
          <p:cNvPicPr/>
          <p:nvPr/>
        </p:nvPicPr>
        <p:blipFill>
          <a:blip r:embed="rId3"/>
          <a:stretch/>
        </p:blipFill>
        <p:spPr>
          <a:xfrm>
            <a:off x="4367160" y="153252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" name="Text 13"/>
          <p:cNvSpPr/>
          <p:nvPr/>
        </p:nvSpPr>
        <p:spPr>
          <a:xfrm>
            <a:off x="3913560" y="224028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Tasha BAILLY LE ROCH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3913560" y="278892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Touch UI &amp; UX design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3913560" y="3291840"/>
            <a:ext cx="131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7" screen, players' phones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Carte membre 4"/>
          <p:cNvSpPr/>
          <p:nvPr/>
        </p:nvSpPr>
        <p:spPr>
          <a:xfrm>
            <a:off x="5504760" y="1143000"/>
            <a:ext cx="1499400" cy="27428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Pastille membre 4"/>
          <p:cNvSpPr/>
          <p:nvPr/>
        </p:nvSpPr>
        <p:spPr>
          <a:xfrm>
            <a:off x="5888880" y="1371600"/>
            <a:ext cx="731160" cy="73116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5" name="Icône membre 4" descr="membre 4"/>
          <p:cNvPicPr/>
          <p:nvPr/>
        </p:nvPicPr>
        <p:blipFill>
          <a:blip r:embed="rId4"/>
          <a:stretch/>
        </p:blipFill>
        <p:spPr>
          <a:xfrm>
            <a:off x="6049800" y="153252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Text 18"/>
          <p:cNvSpPr/>
          <p:nvPr/>
        </p:nvSpPr>
        <p:spPr>
          <a:xfrm>
            <a:off x="5596200" y="224028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Killiann ODDO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9"/>
          <p:cNvSpPr/>
          <p:nvPr/>
        </p:nvSpPr>
        <p:spPr>
          <a:xfrm>
            <a:off x="5596200" y="278892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Puzzles &amp; learning content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0"/>
          <p:cNvSpPr/>
          <p:nvPr/>
        </p:nvSpPr>
        <p:spPr>
          <a:xfrm>
            <a:off x="5596200" y="3291840"/>
            <a:ext cx="131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Envelopes, real data, debrief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Carte membre 5"/>
          <p:cNvSpPr/>
          <p:nvPr/>
        </p:nvSpPr>
        <p:spPr>
          <a:xfrm>
            <a:off x="7187040" y="1143000"/>
            <a:ext cx="1499400" cy="27428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astille membre 5"/>
          <p:cNvSpPr/>
          <p:nvPr/>
        </p:nvSpPr>
        <p:spPr>
          <a:xfrm>
            <a:off x="7571160" y="1371600"/>
            <a:ext cx="731160" cy="73116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51" name="Icône membre 5" descr="membre 5"/>
          <p:cNvPicPr/>
          <p:nvPr/>
        </p:nvPicPr>
        <p:blipFill>
          <a:blip r:embed="rId5"/>
          <a:stretch/>
        </p:blipFill>
        <p:spPr>
          <a:xfrm>
            <a:off x="7732080" y="1532520"/>
            <a:ext cx="409320" cy="409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Text 23"/>
          <p:cNvSpPr/>
          <p:nvPr/>
        </p:nvSpPr>
        <p:spPr>
          <a:xfrm>
            <a:off x="7278480" y="224028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Léo LEBLANC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"/>
          <p:cNvSpPr/>
          <p:nvPr/>
        </p:nvSpPr>
        <p:spPr>
          <a:xfrm>
            <a:off x="7278480" y="2788920"/>
            <a:ext cx="1316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Network, security &amp; docs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5"/>
          <p:cNvSpPr/>
          <p:nvPr/>
        </p:nvSpPr>
        <p:spPr>
          <a:xfrm>
            <a:off x="7278480" y="3291840"/>
            <a:ext cx="13165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Raspberry Pi, MySQL, reports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6"/>
          <p:cNvSpPr/>
          <p:nvPr/>
        </p:nvSpPr>
        <p:spPr>
          <a:xfrm>
            <a:off x="457200" y="4114800"/>
            <a:ext cx="8229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An independent 5-person studio, with rotating roles: driver, co-pilot and note-taker.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6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354224-6678-4F5B-B200-EFB371D6507F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Le campus devient l'escape game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57200" y="1097280"/>
            <a:ext cx="420588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Mardi, 14 h 20. Tel un gréviste, un saboteur veut consolider le blocus du campus, en soutien aux lycéens mobilisés : chauffage à fond, lumières partout, détecteurs déréglés, jusqu'au black-out.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Les joueurs sont des agents chargés de déjouer son plan, salle après salle, avant le black-out.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Pas de décor en carton : les vraies salles du campus et le plan d'évacuation servent de terrain de jeu.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Chiffre 1"/>
          <p:cNvSpPr/>
          <p:nvPr/>
        </p:nvSpPr>
        <p:spPr>
          <a:xfrm>
            <a:off x="5029200" y="1097280"/>
            <a:ext cx="1782720" cy="132552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" name="Text 3"/>
          <p:cNvSpPr/>
          <p:nvPr/>
        </p:nvSpPr>
        <p:spPr>
          <a:xfrm>
            <a:off x="5166360" y="1261800"/>
            <a:ext cx="1508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5166360" y="19018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salles à sécuriser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Chiffre 2"/>
          <p:cNvSpPr/>
          <p:nvPr/>
        </p:nvSpPr>
        <p:spPr>
          <a:xfrm>
            <a:off x="6949440" y="1097280"/>
            <a:ext cx="1782720" cy="132552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6"/>
          <p:cNvSpPr/>
          <p:nvPr/>
        </p:nvSpPr>
        <p:spPr>
          <a:xfrm>
            <a:off x="7086600" y="1261800"/>
            <a:ext cx="1508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20 min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7086600" y="190188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au compte à rebours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hiffre 3"/>
          <p:cNvSpPr/>
          <p:nvPr/>
        </p:nvSpPr>
        <p:spPr>
          <a:xfrm>
            <a:off x="5029200" y="2606040"/>
            <a:ext cx="1782720" cy="132552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9"/>
          <p:cNvSpPr/>
          <p:nvPr/>
        </p:nvSpPr>
        <p:spPr>
          <a:xfrm>
            <a:off x="5166360" y="2770560"/>
            <a:ext cx="1508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5166360" y="341064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erreurs = black-out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Chiffre 4"/>
          <p:cNvSpPr/>
          <p:nvPr/>
        </p:nvSpPr>
        <p:spPr>
          <a:xfrm>
            <a:off x="6949440" y="2606040"/>
            <a:ext cx="1782720" cy="132552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86600" y="2770560"/>
            <a:ext cx="1508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fr-F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7086600" y="3410640"/>
            <a:ext cx="1508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équipes qui doivent se parler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sldNum" idx="7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9841DD-2E86-425B-9691-8F05E372F04D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Fonctionnement du jeu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Carte QG"/>
          <p:cNvSpPr/>
          <p:nvPr/>
        </p:nvSpPr>
        <p:spPr>
          <a:xfrm>
            <a:off x="457200" y="1051560"/>
            <a:ext cx="3017160" cy="23313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Pastille QG"/>
          <p:cNvSpPr/>
          <p:nvPr/>
        </p:nvSpPr>
        <p:spPr>
          <a:xfrm>
            <a:off x="685800" y="1234440"/>
            <a:ext cx="639720" cy="6397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5" name="Icône QG" descr="QG"/>
          <p:cNvPicPr/>
          <p:nvPr/>
        </p:nvPicPr>
        <p:blipFill>
          <a:blip r:embed="rId1"/>
          <a:stretch/>
        </p:blipFill>
        <p:spPr>
          <a:xfrm>
            <a:off x="826560" y="1375200"/>
            <a:ext cx="358200" cy="35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3"/>
          <p:cNvSpPr/>
          <p:nvPr/>
        </p:nvSpPr>
        <p:spPr>
          <a:xfrm>
            <a:off x="1463040" y="1280160"/>
            <a:ext cx="1919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Le QG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685800" y="2011680"/>
            <a:ext cx="26514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6142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Manipule la console : écran tactile, molette, capteurs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6142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Ne connaît pas les règles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rte agents"/>
          <p:cNvSpPr/>
          <p:nvPr/>
        </p:nvSpPr>
        <p:spPr>
          <a:xfrm>
            <a:off x="5669280" y="1051560"/>
            <a:ext cx="3017160" cy="233136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Pastille agents"/>
          <p:cNvSpPr/>
          <p:nvPr/>
        </p:nvSpPr>
        <p:spPr>
          <a:xfrm>
            <a:off x="5897880" y="1234440"/>
            <a:ext cx="639720" cy="6397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" name="Icône agents" descr="agents"/>
          <p:cNvPicPr/>
          <p:nvPr/>
        </p:nvPicPr>
        <p:blipFill>
          <a:blip r:embed="rId2"/>
          <a:stretch/>
        </p:blipFill>
        <p:spPr>
          <a:xfrm>
            <a:off x="6038640" y="1375200"/>
            <a:ext cx="358200" cy="35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7"/>
          <p:cNvSpPr/>
          <p:nvPr/>
        </p:nvSpPr>
        <p:spPr>
          <a:xfrm>
            <a:off x="6675120" y="1280160"/>
            <a:ext cx="19198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Les agents terrain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8"/>
          <p:cNvSpPr/>
          <p:nvPr/>
        </p:nvSpPr>
        <p:spPr>
          <a:xfrm>
            <a:off x="5897880" y="2011680"/>
            <a:ext cx="26514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6142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Trouvent les enveloppes cachées dans les salles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6142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Ont les règles, pas la console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astille chat"/>
          <p:cNvSpPr/>
          <p:nvPr/>
        </p:nvSpPr>
        <p:spPr>
          <a:xfrm>
            <a:off x="4114800" y="1417320"/>
            <a:ext cx="914040" cy="91404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4" name="Icône chat" descr="chat"/>
          <p:cNvPicPr/>
          <p:nvPr/>
        </p:nvPicPr>
        <p:blipFill>
          <a:blip r:embed="rId3"/>
          <a:stretch/>
        </p:blipFill>
        <p:spPr>
          <a:xfrm>
            <a:off x="4316040" y="1618560"/>
            <a:ext cx="511560" cy="51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" name="Text 10"/>
          <p:cNvSpPr/>
          <p:nvPr/>
        </p:nvSpPr>
        <p:spPr>
          <a:xfrm>
            <a:off x="3520440" y="2423160"/>
            <a:ext cx="21027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Chat temps réel sur téléphone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Flèche QG"/>
          <p:cNvSpPr/>
          <p:nvPr/>
        </p:nvSpPr>
        <p:spPr>
          <a:xfrm>
            <a:off x="3520440" y="1874520"/>
            <a:ext cx="548640" cy="360"/>
          </a:xfrm>
          <a:prstGeom prst="line">
            <a:avLst/>
          </a:prstGeom>
          <a:ln w="25400">
            <a:solidFill>
              <a:srgbClr val="2BB6B7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Flèche agents"/>
          <p:cNvSpPr/>
          <p:nvPr/>
        </p:nvSpPr>
        <p:spPr>
          <a:xfrm>
            <a:off x="5074920" y="1874520"/>
            <a:ext cx="548640" cy="360"/>
          </a:xfrm>
          <a:prstGeom prst="line">
            <a:avLst/>
          </a:prstGeom>
          <a:ln w="25400">
            <a:solidFill>
              <a:srgbClr val="2BB6B7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Étape Observer"/>
          <p:cNvSpPr/>
          <p:nvPr/>
        </p:nvSpPr>
        <p:spPr>
          <a:xfrm>
            <a:off x="457200" y="3657600"/>
            <a:ext cx="1919880" cy="68544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 14"/>
          <p:cNvSpPr/>
          <p:nvPr/>
        </p:nvSpPr>
        <p:spPr>
          <a:xfrm>
            <a:off x="548640" y="3657600"/>
            <a:ext cx="173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1  </a:t>
            </a: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Observer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Étape Décrire"/>
          <p:cNvSpPr/>
          <p:nvPr/>
        </p:nvSpPr>
        <p:spPr>
          <a:xfrm>
            <a:off x="2560320" y="3657600"/>
            <a:ext cx="1919880" cy="68544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2651760" y="3657600"/>
            <a:ext cx="173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2  </a:t>
            </a: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Décrire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Étape Déduire"/>
          <p:cNvSpPr/>
          <p:nvPr/>
        </p:nvSpPr>
        <p:spPr>
          <a:xfrm>
            <a:off x="4663440" y="3657600"/>
            <a:ext cx="1919880" cy="685440"/>
          </a:xfrm>
          <a:prstGeom prst="roundRect">
            <a:avLst>
              <a:gd name="adj" fmla="val 49333"/>
            </a:avLst>
          </a:prstGeom>
          <a:solidFill>
            <a:schemeClr val="tx2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18"/>
          <p:cNvSpPr/>
          <p:nvPr/>
        </p:nvSpPr>
        <p:spPr>
          <a:xfrm>
            <a:off x="4754880" y="3657600"/>
            <a:ext cx="173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3  </a:t>
            </a: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Déduire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Étape Agir"/>
          <p:cNvSpPr/>
          <p:nvPr/>
        </p:nvSpPr>
        <p:spPr>
          <a:xfrm>
            <a:off x="6766560" y="3657600"/>
            <a:ext cx="1919880" cy="685440"/>
          </a:xfrm>
          <a:prstGeom prst="roundRect">
            <a:avLst>
              <a:gd name="adj" fmla="val 49333"/>
            </a:avLst>
          </a:prstGeom>
          <a:solidFill>
            <a:schemeClr val="accent1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 20"/>
          <p:cNvSpPr/>
          <p:nvPr/>
        </p:nvSpPr>
        <p:spPr>
          <a:xfrm>
            <a:off x="6858000" y="3657600"/>
            <a:ext cx="17370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4  Agir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ldNum" idx="8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6F65870-C51F-4694-AF28-4230E756355A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5 salles, 5 énigmes, 5 capteurs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Salle 1"/>
          <p:cNvSpPr/>
          <p:nvPr/>
        </p:nvSpPr>
        <p:spPr>
          <a:xfrm>
            <a:off x="457200" y="1005840"/>
            <a:ext cx="8229240" cy="621360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" name="Pastille Chauffage"/>
          <p:cNvSpPr/>
          <p:nvPr/>
        </p:nvSpPr>
        <p:spPr>
          <a:xfrm>
            <a:off x="567000" y="1088280"/>
            <a:ext cx="456840" cy="4568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0" name="Icône Chauffage" descr="Chauffage"/>
          <p:cNvPicPr/>
          <p:nvPr/>
        </p:nvPicPr>
        <p:blipFill>
          <a:blip r:embed="rId1"/>
          <a:stretch/>
        </p:blipFill>
        <p:spPr>
          <a:xfrm>
            <a:off x="667440" y="11887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3"/>
          <p:cNvSpPr/>
          <p:nvPr/>
        </p:nvSpPr>
        <p:spPr>
          <a:xfrm>
            <a:off x="1188720" y="1005840"/>
            <a:ext cx="1828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1. Chauffage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"/>
          <p:cNvSpPr/>
          <p:nvPr/>
        </p:nvSpPr>
        <p:spPr>
          <a:xfrm>
            <a:off x="3063240" y="1005840"/>
            <a:ext cx="3657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Appliquer la loi : 19, 16 ou 8 °C selon les heures d'inoccupation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5"/>
          <p:cNvSpPr/>
          <p:nvPr/>
        </p:nvSpPr>
        <p:spPr>
          <a:xfrm>
            <a:off x="6812280" y="1005840"/>
            <a:ext cx="1782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Molette + thermomètre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alle 2"/>
          <p:cNvSpPr/>
          <p:nvPr/>
        </p:nvSpPr>
        <p:spPr>
          <a:xfrm>
            <a:off x="457200" y="1719000"/>
            <a:ext cx="8229240" cy="621360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" name="Pastille Éclairage"/>
          <p:cNvSpPr/>
          <p:nvPr/>
        </p:nvSpPr>
        <p:spPr>
          <a:xfrm>
            <a:off x="567000" y="1801440"/>
            <a:ext cx="456840" cy="4568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6" name="Icône Éclairage" descr="Éclairage"/>
          <p:cNvPicPr/>
          <p:nvPr/>
        </p:nvPicPr>
        <p:blipFill>
          <a:blip r:embed="rId2"/>
          <a:stretch/>
        </p:blipFill>
        <p:spPr>
          <a:xfrm>
            <a:off x="667440" y="190188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Text 8"/>
          <p:cNvSpPr/>
          <p:nvPr/>
        </p:nvSpPr>
        <p:spPr>
          <a:xfrm>
            <a:off x="1188720" y="1719000"/>
            <a:ext cx="1828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 Éclairage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3063240" y="1719000"/>
            <a:ext cx="3657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Déduire du planning quelles salles sont vides, puis les éteindre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6812280" y="1719000"/>
            <a:ext cx="1782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8 LEDs + boutons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alle 3"/>
          <p:cNvSpPr/>
          <p:nvPr/>
        </p:nvSpPr>
        <p:spPr>
          <a:xfrm>
            <a:off x="457200" y="2432160"/>
            <a:ext cx="8229240" cy="621360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" name="Pastille Présence"/>
          <p:cNvSpPr/>
          <p:nvPr/>
        </p:nvSpPr>
        <p:spPr>
          <a:xfrm>
            <a:off x="567000" y="2514600"/>
            <a:ext cx="456840" cy="4568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2" name="Icône Présence" descr="Présence"/>
          <p:cNvPicPr/>
          <p:nvPr/>
        </p:nvPicPr>
        <p:blipFill>
          <a:blip r:embed="rId3"/>
          <a:stretch/>
        </p:blipFill>
        <p:spPr>
          <a:xfrm>
            <a:off x="667440" y="261504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13"/>
          <p:cNvSpPr/>
          <p:nvPr/>
        </p:nvSpPr>
        <p:spPr>
          <a:xfrm>
            <a:off x="1188720" y="2432160"/>
            <a:ext cx="1828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 Présence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4"/>
          <p:cNvSpPr/>
          <p:nvPr/>
        </p:nvSpPr>
        <p:spPr>
          <a:xfrm>
            <a:off x="3063240" y="2432160"/>
            <a:ext cx="3657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Calculer la portée d'un détecteur : hauteur × tan(angle)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5"/>
          <p:cNvSpPr/>
          <p:nvPr/>
        </p:nvSpPr>
        <p:spPr>
          <a:xfrm>
            <a:off x="6812280" y="2432160"/>
            <a:ext cx="1782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Capteur de distance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alle 4"/>
          <p:cNvSpPr/>
          <p:nvPr/>
        </p:nvSpPr>
        <p:spPr>
          <a:xfrm>
            <a:off x="457200" y="3145680"/>
            <a:ext cx="8229240" cy="621360"/>
          </a:xfrm>
          <a:prstGeom prst="roundRect">
            <a:avLst>
              <a:gd name="adj" fmla="val 14706"/>
            </a:avLst>
          </a:prstGeom>
          <a:solidFill>
            <a:schemeClr val="bg1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Pastille Code de l'armoire"/>
          <p:cNvSpPr/>
          <p:nvPr/>
        </p:nvSpPr>
        <p:spPr>
          <a:xfrm>
            <a:off x="567000" y="3227760"/>
            <a:ext cx="456840" cy="4568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18" name="Icône Code de l'armoire" descr="Code de l'armoire"/>
          <p:cNvPicPr/>
          <p:nvPr/>
        </p:nvPicPr>
        <p:blipFill>
          <a:blip r:embed="rId4"/>
          <a:stretch/>
        </p:blipFill>
        <p:spPr>
          <a:xfrm>
            <a:off x="667440" y="332856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 18"/>
          <p:cNvSpPr/>
          <p:nvPr/>
        </p:nvSpPr>
        <p:spPr>
          <a:xfrm>
            <a:off x="1188720" y="3145680"/>
            <a:ext cx="1828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 Code de l'armoire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3063240" y="3145680"/>
            <a:ext cx="3657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Décoder un mot en morse, puis le chiffrer (décalage)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6812280" y="3145680"/>
            <a:ext cx="1782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Buzzer + clavier tactile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alle 5"/>
          <p:cNvSpPr/>
          <p:nvPr/>
        </p:nvSpPr>
        <p:spPr>
          <a:xfrm>
            <a:off x="457200" y="3858840"/>
            <a:ext cx="8229240" cy="621360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Pastille Compteur"/>
          <p:cNvSpPr/>
          <p:nvPr/>
        </p:nvSpPr>
        <p:spPr>
          <a:xfrm>
            <a:off x="567000" y="3940920"/>
            <a:ext cx="456840" cy="4568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24" name="Icône Compteur" descr="Compteur"/>
          <p:cNvPicPr/>
          <p:nvPr/>
        </p:nvPicPr>
        <p:blipFill>
          <a:blip r:embed="rId5"/>
          <a:stretch/>
        </p:blipFill>
        <p:spPr>
          <a:xfrm>
            <a:off x="667440" y="4041720"/>
            <a:ext cx="255600" cy="25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23"/>
          <p:cNvSpPr/>
          <p:nvPr/>
        </p:nvSpPr>
        <p:spPr>
          <a:xfrm>
            <a:off x="1188720" y="3858840"/>
            <a:ext cx="18284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 Compteur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4"/>
          <p:cNvSpPr/>
          <p:nvPr/>
        </p:nvSpPr>
        <p:spPr>
          <a:xfrm>
            <a:off x="3063240" y="3858840"/>
            <a:ext cx="3657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Chiffrer le gaspillage du week-end en kg de CO₂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5"/>
          <p:cNvSpPr/>
          <p:nvPr/>
        </p:nvSpPr>
        <p:spPr>
          <a:xfrm>
            <a:off x="6812280" y="3858840"/>
            <a:ext cx="178272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Écran OLED + potentiomètre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9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A9EF919-1EB8-4D42-8318-16CFA4D1E698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Apport pédagogique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457200" y="1005840"/>
            <a:ext cx="4023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Des énigmes bâties sur des données réelles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"/>
          <p:cNvSpPr/>
          <p:nvPr/>
        </p:nvSpPr>
        <p:spPr>
          <a:xfrm>
            <a:off x="457200" y="1417320"/>
            <a:ext cx="1462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19 °C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"/>
          <p:cNvSpPr/>
          <p:nvPr/>
        </p:nvSpPr>
        <p:spPr>
          <a:xfrm>
            <a:off x="1965960" y="1417320"/>
            <a:ext cx="2514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maximum dans une salle occupée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Code de l'énergie, art. R241-26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457200" y="2377440"/>
            <a:ext cx="1462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−7 %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1965960" y="2377440"/>
            <a:ext cx="2514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d'énergie par degré de chauffage en moins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ADEME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6"/>
          <p:cNvSpPr/>
          <p:nvPr/>
        </p:nvSpPr>
        <p:spPr>
          <a:xfrm>
            <a:off x="457200" y="3337560"/>
            <a:ext cx="1462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30 g</a:t>
            </a:r>
            <a:endParaRPr lang="fr-F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7"/>
          <p:cNvSpPr/>
          <p:nvPr/>
        </p:nvSpPr>
        <p:spPr>
          <a:xfrm>
            <a:off x="1965960" y="3337560"/>
            <a:ext cx="2514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 CO₂ par kWh produit en France en 2024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RTE, bilan électrique (cycle de vie)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Carte apprentissages"/>
          <p:cNvSpPr/>
          <p:nvPr/>
        </p:nvSpPr>
        <p:spPr>
          <a:xfrm>
            <a:off x="4800600" y="1005840"/>
            <a:ext cx="3885840" cy="3474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Pastille apprentissages"/>
          <p:cNvSpPr/>
          <p:nvPr/>
        </p:nvSpPr>
        <p:spPr>
          <a:xfrm>
            <a:off x="4983480" y="1188720"/>
            <a:ext cx="548280" cy="54828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39" name="Icône apprentissages" descr="apprentissages"/>
          <p:cNvPicPr/>
          <p:nvPr/>
        </p:nvPicPr>
        <p:blipFill>
          <a:blip r:embed="rId1"/>
          <a:stretch/>
        </p:blipFill>
        <p:spPr>
          <a:xfrm>
            <a:off x="5104080" y="130932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ext 10"/>
          <p:cNvSpPr/>
          <p:nvPr/>
        </p:nvSpPr>
        <p:spPr>
          <a:xfrm>
            <a:off x="5669280" y="1188720"/>
            <a:ext cx="2834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Pour les 15-18 ans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1"/>
          <p:cNvSpPr/>
          <p:nvPr/>
        </p:nvSpPr>
        <p:spPr>
          <a:xfrm>
            <a:off x="4983480" y="1874520"/>
            <a:ext cx="3520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6142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Logique et déduction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06142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Maths appliquées : durées, trigonométrie, conversions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1199"/>
              </a:spcAft>
              <a:buClr>
                <a:srgbClr val="06142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Communication et coopération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Débriefing de fin : pour chaque salle, une notion et un geste pour la vraie vie.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« Quel geste de la partie pourriez-vous faire dès demain dans votre lycée ? »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10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1F4071-081C-45CD-B96E-DF4988E11E95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Une interface pensée pour l'écran tactile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4" name="Cadre Accueil : QR code et briefing défilant"/>
          <p:cNvSpPr/>
          <p:nvPr/>
        </p:nvSpPr>
        <p:spPr>
          <a:xfrm>
            <a:off x="438840" y="1033200"/>
            <a:ext cx="2688120" cy="1663920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round/>
          </a:ln>
          <a:effectLst>
            <a:outerShdw algn="bl" blurRad="101520" dir="5400000" dist="38160" rotWithShape="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5" name="Accueil : QR code et briefing défilant" descr="Accueil : QR code et briefing défilant"/>
          <p:cNvPicPr/>
          <p:nvPr/>
        </p:nvPicPr>
        <p:blipFill>
          <a:blip r:embed="rId1"/>
          <a:stretch/>
        </p:blipFill>
        <p:spPr>
          <a:xfrm>
            <a:off x="502920" y="1097280"/>
            <a:ext cx="2559960" cy="153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Text 2"/>
          <p:cNvSpPr/>
          <p:nvPr/>
        </p:nvSpPr>
        <p:spPr>
          <a:xfrm>
            <a:off x="502920" y="271584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Accueil : QR code et briefing défilant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adre Une salle en cours, avec le chat"/>
          <p:cNvSpPr/>
          <p:nvPr/>
        </p:nvSpPr>
        <p:spPr>
          <a:xfrm>
            <a:off x="3227760" y="1033200"/>
            <a:ext cx="2688120" cy="1663920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round/>
          </a:ln>
          <a:effectLst>
            <a:outerShdw algn="bl" blurRad="101520" dir="5400000" dist="38160" rotWithShape="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48" name="Une salle en cours, avec le chat" descr="Une salle en cours, avec le chat"/>
          <p:cNvPicPr/>
          <p:nvPr/>
        </p:nvPicPr>
        <p:blipFill>
          <a:blip r:embed="rId2"/>
          <a:stretch/>
        </p:blipFill>
        <p:spPr>
          <a:xfrm>
            <a:off x="3291840" y="1097280"/>
            <a:ext cx="2559960" cy="153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 4"/>
          <p:cNvSpPr/>
          <p:nvPr/>
        </p:nvSpPr>
        <p:spPr>
          <a:xfrm>
            <a:off x="3291840" y="271584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Une salle en cours, avec le chat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adre Clavier AZERTY du code"/>
          <p:cNvSpPr/>
          <p:nvPr/>
        </p:nvSpPr>
        <p:spPr>
          <a:xfrm>
            <a:off x="6016680" y="1033200"/>
            <a:ext cx="2688120" cy="1663920"/>
          </a:xfrm>
          <a:prstGeom prst="roundRect">
            <a:avLst>
              <a:gd name="adj" fmla="val 4396"/>
            </a:avLst>
          </a:prstGeom>
          <a:solidFill>
            <a:srgbClr val="0A0F1A"/>
          </a:solidFill>
          <a:ln w="12700">
            <a:solidFill>
              <a:srgbClr val="0A0F1A"/>
            </a:solidFill>
            <a:round/>
          </a:ln>
          <a:effectLst>
            <a:outerShdw algn="bl" blurRad="101520" dir="5400000" dist="38160" rotWithShape="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1" name="Clavier AZERTY du code" descr="Clavier AZERTY du code"/>
          <p:cNvPicPr/>
          <p:nvPr/>
        </p:nvPicPr>
        <p:blipFill>
          <a:blip r:embed="rId3"/>
          <a:stretch/>
        </p:blipFill>
        <p:spPr>
          <a:xfrm>
            <a:off x="6080760" y="1097280"/>
            <a:ext cx="2559960" cy="153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Text 6"/>
          <p:cNvSpPr/>
          <p:nvPr/>
        </p:nvSpPr>
        <p:spPr>
          <a:xfrm>
            <a:off x="6080760" y="2715840"/>
            <a:ext cx="25599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Clavier AZERTY du code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astille Boutons de 52 px et plus, sans zoom"/>
          <p:cNvSpPr/>
          <p:nvPr/>
        </p:nvSpPr>
        <p:spPr>
          <a:xfrm>
            <a:off x="457200" y="3337560"/>
            <a:ext cx="502560" cy="50256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4" name="Icône Boutons de 52 px et plus, sans zoom" descr="Boutons de 52 px et plus, sans zoom"/>
          <p:cNvPicPr/>
          <p:nvPr/>
        </p:nvPicPr>
        <p:blipFill>
          <a:blip r:embed="rId4"/>
          <a:stretch/>
        </p:blipFill>
        <p:spPr>
          <a:xfrm>
            <a:off x="567720" y="344808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Text 8"/>
          <p:cNvSpPr/>
          <p:nvPr/>
        </p:nvSpPr>
        <p:spPr>
          <a:xfrm>
            <a:off x="1051560" y="3246120"/>
            <a:ext cx="1416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Boutons de 52 px et plus, sans zoom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astille Retours visuels et sonores"/>
          <p:cNvSpPr/>
          <p:nvPr/>
        </p:nvSpPr>
        <p:spPr>
          <a:xfrm>
            <a:off x="2560320" y="3337560"/>
            <a:ext cx="502560" cy="50256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57" name="Icône Retours visuels et sonores" descr="Retours visuels et sonores"/>
          <p:cNvPicPr/>
          <p:nvPr/>
        </p:nvPicPr>
        <p:blipFill>
          <a:blip r:embed="rId5"/>
          <a:stretch/>
        </p:blipFill>
        <p:spPr>
          <a:xfrm>
            <a:off x="2670840" y="344808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 10"/>
          <p:cNvSpPr/>
          <p:nvPr/>
        </p:nvSpPr>
        <p:spPr>
          <a:xfrm>
            <a:off x="3154680" y="3246120"/>
            <a:ext cx="1416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Retours visuels et sonores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astille Aide au calcul, sans la réponse"/>
          <p:cNvSpPr/>
          <p:nvPr/>
        </p:nvSpPr>
        <p:spPr>
          <a:xfrm>
            <a:off x="4663440" y="3337560"/>
            <a:ext cx="502560" cy="50256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60" name="Icône Aide au calcul, sans la réponse" descr="Aide au calcul, sans la réponse"/>
          <p:cNvPicPr/>
          <p:nvPr/>
        </p:nvPicPr>
        <p:blipFill>
          <a:blip r:embed="rId6"/>
          <a:stretch/>
        </p:blipFill>
        <p:spPr>
          <a:xfrm>
            <a:off x="4773960" y="344808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 12"/>
          <p:cNvSpPr/>
          <p:nvPr/>
        </p:nvSpPr>
        <p:spPr>
          <a:xfrm>
            <a:off x="5257800" y="3246120"/>
            <a:ext cx="1416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Aide au calcul, sans la réponse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astille Couleurs de la charte CCI"/>
          <p:cNvSpPr/>
          <p:nvPr/>
        </p:nvSpPr>
        <p:spPr>
          <a:xfrm>
            <a:off x="6766560" y="3337560"/>
            <a:ext cx="502560" cy="50256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63" name="Icône Couleurs de la charte CCI" descr="Couleurs de la charte CCI"/>
          <p:cNvPicPr/>
          <p:nvPr/>
        </p:nvPicPr>
        <p:blipFill>
          <a:blip r:embed="rId7"/>
          <a:stretch/>
        </p:blipFill>
        <p:spPr>
          <a:xfrm>
            <a:off x="6877080" y="344808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Text 14"/>
          <p:cNvSpPr/>
          <p:nvPr/>
        </p:nvSpPr>
        <p:spPr>
          <a:xfrm>
            <a:off x="7360920" y="3246120"/>
            <a:ext cx="14169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Couleurs de la charte CCI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5"/>
          <p:cNvSpPr/>
          <p:nvPr/>
        </p:nvSpPr>
        <p:spPr>
          <a:xfrm>
            <a:off x="457200" y="416052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Après chaque partie : score selon la rapidité, générique de fin et historique des parties.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11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F999B85-3308-4FCA-BCF4-F14A65AB03F3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Architecture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Bloc Arduino"/>
          <p:cNvSpPr/>
          <p:nvPr/>
        </p:nvSpPr>
        <p:spPr>
          <a:xfrm>
            <a:off x="457200" y="1783080"/>
            <a:ext cx="2514240" cy="114264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Pastille Arduino"/>
          <p:cNvSpPr/>
          <p:nvPr/>
        </p:nvSpPr>
        <p:spPr>
          <a:xfrm>
            <a:off x="621720" y="2080440"/>
            <a:ext cx="548280" cy="5482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0" name="Icône Arduino" descr="Arduino"/>
          <p:cNvPicPr/>
          <p:nvPr/>
        </p:nvPicPr>
        <p:blipFill>
          <a:blip r:embed="rId1"/>
          <a:stretch/>
        </p:blipFill>
        <p:spPr>
          <a:xfrm>
            <a:off x="742320" y="220104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Text 3"/>
          <p:cNvSpPr/>
          <p:nvPr/>
        </p:nvSpPr>
        <p:spPr>
          <a:xfrm>
            <a:off x="1298520" y="1783080"/>
            <a:ext cx="15814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Console Arduino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UNO R4 WiFi · 7 Modulino · 6 Grove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Bloc Raspberry Pi"/>
          <p:cNvSpPr/>
          <p:nvPr/>
        </p:nvSpPr>
        <p:spPr>
          <a:xfrm>
            <a:off x="3611880" y="1783080"/>
            <a:ext cx="2377080" cy="114264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Pastille Raspberry Pi"/>
          <p:cNvSpPr/>
          <p:nvPr/>
        </p:nvSpPr>
        <p:spPr>
          <a:xfrm>
            <a:off x="3776400" y="2080440"/>
            <a:ext cx="548280" cy="54828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4" name="Icône Raspberry Pi" descr="Raspberry Pi"/>
          <p:cNvPicPr/>
          <p:nvPr/>
        </p:nvPicPr>
        <p:blipFill>
          <a:blip r:embed="rId2"/>
          <a:stretch/>
        </p:blipFill>
        <p:spPr>
          <a:xfrm>
            <a:off x="3897000" y="220104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 6"/>
          <p:cNvSpPr/>
          <p:nvPr/>
        </p:nvSpPr>
        <p:spPr>
          <a:xfrm>
            <a:off x="4453200" y="1783080"/>
            <a:ext cx="144432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Raspberry Pi 5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Node.js · Express · Socket.io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Bloc écran"/>
          <p:cNvSpPr/>
          <p:nvPr/>
        </p:nvSpPr>
        <p:spPr>
          <a:xfrm>
            <a:off x="6537960" y="960120"/>
            <a:ext cx="2148480" cy="100548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7" name="Pastille écran"/>
          <p:cNvSpPr/>
          <p:nvPr/>
        </p:nvSpPr>
        <p:spPr>
          <a:xfrm>
            <a:off x="6702480" y="1188720"/>
            <a:ext cx="548280" cy="54828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78" name="Icône écran" descr="écran"/>
          <p:cNvPicPr/>
          <p:nvPr/>
        </p:nvPicPr>
        <p:blipFill>
          <a:blip r:embed="rId3"/>
          <a:stretch/>
        </p:blipFill>
        <p:spPr>
          <a:xfrm>
            <a:off x="6823080" y="130932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 9"/>
          <p:cNvSpPr/>
          <p:nvPr/>
        </p:nvSpPr>
        <p:spPr>
          <a:xfrm>
            <a:off x="7379280" y="960120"/>
            <a:ext cx="1215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Écran du QG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Tactile 7", Chromium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Bloc téléphones"/>
          <p:cNvSpPr/>
          <p:nvPr/>
        </p:nvSpPr>
        <p:spPr>
          <a:xfrm>
            <a:off x="6537960" y="2743200"/>
            <a:ext cx="2148480" cy="100548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1" name="Pastille téléphones"/>
          <p:cNvSpPr/>
          <p:nvPr/>
        </p:nvSpPr>
        <p:spPr>
          <a:xfrm>
            <a:off x="6702480" y="2971800"/>
            <a:ext cx="548280" cy="54828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2" name="Icône téléphones" descr="téléphones"/>
          <p:cNvPicPr/>
          <p:nvPr/>
        </p:nvPicPr>
        <p:blipFill>
          <a:blip r:embed="rId4"/>
          <a:stretch/>
        </p:blipFill>
        <p:spPr>
          <a:xfrm>
            <a:off x="6823080" y="309240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12"/>
          <p:cNvSpPr/>
          <p:nvPr/>
        </p:nvSpPr>
        <p:spPr>
          <a:xfrm>
            <a:off x="7379280" y="2743200"/>
            <a:ext cx="12157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Téléphones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Agents terrain, via QR code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Bloc MySQL"/>
          <p:cNvSpPr/>
          <p:nvPr/>
        </p:nvSpPr>
        <p:spPr>
          <a:xfrm>
            <a:off x="3611880" y="3383280"/>
            <a:ext cx="2377080" cy="91404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Pastille MySQL"/>
          <p:cNvSpPr/>
          <p:nvPr/>
        </p:nvSpPr>
        <p:spPr>
          <a:xfrm>
            <a:off x="3776400" y="3566160"/>
            <a:ext cx="548280" cy="54828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86" name="Icône MySQL" descr="MySQL"/>
          <p:cNvPicPr/>
          <p:nvPr/>
        </p:nvPicPr>
        <p:blipFill>
          <a:blip r:embed="rId5"/>
          <a:stretch/>
        </p:blipFill>
        <p:spPr>
          <a:xfrm>
            <a:off x="3897000" y="3686760"/>
            <a:ext cx="306720" cy="306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5"/>
          <p:cNvSpPr/>
          <p:nvPr/>
        </p:nvSpPr>
        <p:spPr>
          <a:xfrm>
            <a:off x="4453200" y="3383280"/>
            <a:ext cx="14443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MySQL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Historique et scores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Liaison série"/>
          <p:cNvSpPr/>
          <p:nvPr/>
        </p:nvSpPr>
        <p:spPr>
          <a:xfrm>
            <a:off x="2999160" y="2354400"/>
            <a:ext cx="585000" cy="360"/>
          </a:xfrm>
          <a:prstGeom prst="line">
            <a:avLst/>
          </a:prstGeom>
          <a:ln w="22225">
            <a:solidFill>
              <a:srgbClr val="004379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 17"/>
          <p:cNvSpPr/>
          <p:nvPr/>
        </p:nvSpPr>
        <p:spPr>
          <a:xfrm>
            <a:off x="2743200" y="1234440"/>
            <a:ext cx="1096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USB série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115 200 bauds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Liaison écran"/>
          <p:cNvSpPr/>
          <p:nvPr/>
        </p:nvSpPr>
        <p:spPr>
          <a:xfrm flipV="1">
            <a:off x="6016680" y="1463040"/>
            <a:ext cx="493560" cy="502920"/>
          </a:xfrm>
          <a:prstGeom prst="line">
            <a:avLst/>
          </a:prstGeom>
          <a:ln w="22225">
            <a:solidFill>
              <a:srgbClr val="004379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Liaison téléphones"/>
          <p:cNvSpPr/>
          <p:nvPr/>
        </p:nvSpPr>
        <p:spPr>
          <a:xfrm>
            <a:off x="6016680" y="2651760"/>
            <a:ext cx="493560" cy="594360"/>
          </a:xfrm>
          <a:prstGeom prst="line">
            <a:avLst/>
          </a:prstGeom>
          <a:ln w="22225">
            <a:solidFill>
              <a:srgbClr val="004379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 20"/>
          <p:cNvSpPr/>
          <p:nvPr/>
        </p:nvSpPr>
        <p:spPr>
          <a:xfrm>
            <a:off x="5897880" y="2121480"/>
            <a:ext cx="731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Socket.io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temps réel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Liaison base"/>
          <p:cNvSpPr/>
          <p:nvPr/>
        </p:nvSpPr>
        <p:spPr>
          <a:xfrm>
            <a:off x="4800600" y="2953440"/>
            <a:ext cx="360" cy="402120"/>
          </a:xfrm>
          <a:prstGeom prst="line">
            <a:avLst/>
          </a:prstGeom>
          <a:ln w="22225">
            <a:solidFill>
              <a:srgbClr val="004379"/>
            </a:solidFill>
            <a:round/>
            <a:headEnd len="med" type="triangle" w="med"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 22"/>
          <p:cNvSpPr/>
          <p:nvPr/>
        </p:nvSpPr>
        <p:spPr>
          <a:xfrm>
            <a:off x="457200" y="4434840"/>
            <a:ext cx="822924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Un seul serveur sur le Pi, un fichier par salle : ajouter une énigme ne touche pas au moteur.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ldNum" idx="12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3D8D2A-F041-474A-AB3E-898CA46B80D1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Sous le capot : les algorithmes clés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Algorithme 1"/>
          <p:cNvSpPr/>
          <p:nvPr/>
        </p:nvSpPr>
        <p:spPr>
          <a:xfrm>
            <a:off x="457200" y="1051560"/>
            <a:ext cx="4023000" cy="155412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 2"/>
          <p:cNvSpPr/>
          <p:nvPr/>
        </p:nvSpPr>
        <p:spPr>
          <a:xfrm>
            <a:off x="685800" y="118872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1</a:t>
            </a: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 Protocole série texte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685800" y="1645920"/>
            <a:ext cx="3611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Courier New"/>
                <a:ea typeface="Courier New"/>
              </a:rPr>
              <a:t>→ KNOB 19     ← LED 3 OK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ourier New"/>
              </a:rPr>
              <a:t>Une commande par ligne : lisible, testable au clavier, sans librairie.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Algorithme 2"/>
          <p:cNvSpPr/>
          <p:nvPr/>
        </p:nvSpPr>
        <p:spPr>
          <a:xfrm>
            <a:off x="4663440" y="1051560"/>
            <a:ext cx="4023000" cy="155412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4892040" y="118872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2</a:t>
            </a: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 Validation côté serveur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4892040" y="1645920"/>
            <a:ext cx="3611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Les bonnes réponses ne quittent jamais le Pi : impossible de tricher en inspectant la page.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Algorithme 3"/>
          <p:cNvSpPr/>
          <p:nvPr/>
        </p:nvSpPr>
        <p:spPr>
          <a:xfrm>
            <a:off x="457200" y="2788920"/>
            <a:ext cx="4023000" cy="155412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8"/>
          <p:cNvSpPr/>
          <p:nvPr/>
        </p:nvSpPr>
        <p:spPr>
          <a:xfrm>
            <a:off x="685800" y="29260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3</a:t>
            </a: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 Sauvegarde et reprise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9"/>
          <p:cNvSpPr/>
          <p:nvPr/>
        </p:nvSpPr>
        <p:spPr>
          <a:xfrm>
            <a:off x="685800" y="3383280"/>
            <a:ext cx="3611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État écrit chaque seconde (écriture atomique). Après une coupure, l'accueil propose de la reprendre au même chrono.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Algorithme 4"/>
          <p:cNvSpPr/>
          <p:nvPr/>
        </p:nvSpPr>
        <p:spPr>
          <a:xfrm>
            <a:off x="4663440" y="2788920"/>
            <a:ext cx="4023000" cy="155412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11"/>
          <p:cNvSpPr/>
          <p:nvPr/>
        </p:nvSpPr>
        <p:spPr>
          <a:xfrm>
            <a:off x="4892040" y="2926080"/>
            <a:ext cx="3565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1"/>
                </a:solidFill>
                <a:effectLst/>
                <a:uFillTx/>
                <a:latin typeface="Arial"/>
                <a:ea typeface="Arial"/>
              </a:rPr>
              <a:t>4</a:t>
            </a: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  Score selon la rapidité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4892040" y="3383280"/>
            <a:ext cx="361152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200" b="1" u="none" strike="noStrike">
                <a:solidFill>
                  <a:schemeClr val="accent1"/>
                </a:solidFill>
                <a:effectLst/>
                <a:uFillTx/>
                <a:latin typeface="Courier New"/>
                <a:ea typeface="Courier New"/>
              </a:rPr>
              <a:t>1 000 + 1 000 × temps restant ÷ temps total − 150 × erreurs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ourier New"/>
              </a:rPr>
              <a:t>Défaite : 100 points par salle sécurisée.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sldNum" idx="13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2366F68-1769-4D5C-83FF-5A7374CACA2D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Sécurité et fiabilité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Pastille Aucune donnée personnelle"/>
          <p:cNvSpPr/>
          <p:nvPr/>
        </p:nvSpPr>
        <p:spPr>
          <a:xfrm>
            <a:off x="457200" y="1124640"/>
            <a:ext cx="566640" cy="566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2" name="Icône Aucune donnée personnelle" descr="Aucune donnée personnelle"/>
          <p:cNvPicPr/>
          <p:nvPr/>
        </p:nvPicPr>
        <p:blipFill>
          <a:blip r:embed="rId1"/>
          <a:stretch/>
        </p:blipFill>
        <p:spPr>
          <a:xfrm>
            <a:off x="581760" y="1249560"/>
            <a:ext cx="317160" cy="3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2"/>
          <p:cNvSpPr/>
          <p:nvPr/>
        </p:nvSpPr>
        <p:spPr>
          <a:xfrm>
            <a:off x="1188720" y="1051560"/>
            <a:ext cx="3291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Aucune donnée personnelle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Un pseudo seulement, chat effacé à chaque partie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astille Chat protégé"/>
          <p:cNvSpPr/>
          <p:nvPr/>
        </p:nvSpPr>
        <p:spPr>
          <a:xfrm>
            <a:off x="4663440" y="1124640"/>
            <a:ext cx="566640" cy="5666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5" name="Icône Chat protégé" descr="Chat protégé"/>
          <p:cNvPicPr/>
          <p:nvPr/>
        </p:nvPicPr>
        <p:blipFill>
          <a:blip r:embed="rId2"/>
          <a:stretch/>
        </p:blipFill>
        <p:spPr>
          <a:xfrm>
            <a:off x="4788000" y="1249560"/>
            <a:ext cx="317160" cy="3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Text 4"/>
          <p:cNvSpPr/>
          <p:nvPr/>
        </p:nvSpPr>
        <p:spPr>
          <a:xfrm>
            <a:off x="5394960" y="1051560"/>
            <a:ext cx="3291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Chat protégé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300 caractères, anti-spam, texte brut (pas d'injection)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Pastille Pilotage réservé au QG"/>
          <p:cNvSpPr/>
          <p:nvPr/>
        </p:nvSpPr>
        <p:spPr>
          <a:xfrm>
            <a:off x="457200" y="2039040"/>
            <a:ext cx="566640" cy="566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18" name="Icône Pilotage réservé au QG" descr="Pilotage réservé au QG"/>
          <p:cNvPicPr/>
          <p:nvPr/>
        </p:nvPicPr>
        <p:blipFill>
          <a:blip r:embed="rId3"/>
          <a:stretch/>
        </p:blipFill>
        <p:spPr>
          <a:xfrm>
            <a:off x="581760" y="2163960"/>
            <a:ext cx="317160" cy="3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 6"/>
          <p:cNvSpPr/>
          <p:nvPr/>
        </p:nvSpPr>
        <p:spPr>
          <a:xfrm>
            <a:off x="1188720" y="1965960"/>
            <a:ext cx="3291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Pilotage réservé au QG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Les téléphones ne peuvent ni lancer, ni tricher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astille Réseau Wi-Fi fermé"/>
          <p:cNvSpPr/>
          <p:nvPr/>
        </p:nvSpPr>
        <p:spPr>
          <a:xfrm>
            <a:off x="4663440" y="2039040"/>
            <a:ext cx="566640" cy="5666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1" name="Icône Réseau Wi-Fi fermé" descr="Réseau Wi-Fi fermé"/>
          <p:cNvPicPr/>
          <p:nvPr/>
        </p:nvPicPr>
        <p:blipFill>
          <a:blip r:embed="rId4"/>
          <a:stretch/>
        </p:blipFill>
        <p:spPr>
          <a:xfrm>
            <a:off x="4788000" y="2163960"/>
            <a:ext cx="317160" cy="3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 8"/>
          <p:cNvSpPr/>
          <p:nvPr/>
        </p:nvSpPr>
        <p:spPr>
          <a:xfrm>
            <a:off x="5394960" y="1965960"/>
            <a:ext cx="3291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Réseau Wi-Fi fermé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Partage de connexion de l'équipe, rien sur Internet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astille Reprise après incident"/>
          <p:cNvSpPr/>
          <p:nvPr/>
        </p:nvSpPr>
        <p:spPr>
          <a:xfrm>
            <a:off x="457200" y="2953440"/>
            <a:ext cx="566640" cy="56664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4" name="Icône Reprise après incident" descr="Reprise après incident"/>
          <p:cNvPicPr/>
          <p:nvPr/>
        </p:nvPicPr>
        <p:blipFill>
          <a:blip r:embed="rId5"/>
          <a:stretch/>
        </p:blipFill>
        <p:spPr>
          <a:xfrm>
            <a:off x="581760" y="3078360"/>
            <a:ext cx="317160" cy="3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" name="Text 10"/>
          <p:cNvSpPr/>
          <p:nvPr/>
        </p:nvSpPr>
        <p:spPr>
          <a:xfrm>
            <a:off x="1188720" y="2880360"/>
            <a:ext cx="3291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Reprise après incident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Sauvegarde chaque seconde, reconnexion Arduino auto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astille Base de données"/>
          <p:cNvSpPr/>
          <p:nvPr/>
        </p:nvSpPr>
        <p:spPr>
          <a:xfrm>
            <a:off x="4663440" y="2953440"/>
            <a:ext cx="566640" cy="56664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27" name="Icône Base de données" descr="Base de données"/>
          <p:cNvPicPr/>
          <p:nvPr/>
        </p:nvPicPr>
        <p:blipFill>
          <a:blip r:embed="rId6"/>
          <a:stretch/>
        </p:blipFill>
        <p:spPr>
          <a:xfrm>
            <a:off x="4788000" y="3078360"/>
            <a:ext cx="317160" cy="317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5394960" y="2880360"/>
            <a:ext cx="3291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 de données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Requêtes préparées, droits minimaux, mot de passe hors Git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n de secours"/>
          <p:cNvSpPr/>
          <p:nvPr/>
        </p:nvSpPr>
        <p:spPr>
          <a:xfrm>
            <a:off x="457200" y="3886200"/>
            <a:ext cx="8229240" cy="594000"/>
          </a:xfrm>
          <a:prstGeom prst="roundRect">
            <a:avLst>
              <a:gd name="adj" fmla="val 15385"/>
            </a:avLst>
          </a:prstGeom>
          <a:solidFill>
            <a:schemeClr val="tx2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" name="Text 14"/>
          <p:cNvSpPr/>
          <p:nvPr/>
        </p:nvSpPr>
        <p:spPr>
          <a:xfrm>
            <a:off x="640080" y="3886200"/>
            <a:ext cx="7863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Plan de secours  </a:t>
            </a: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image de la carte microSD · enveloppes de rechange · jeu installable sur un PC portable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sldNum" idx="14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1616944-9A30-41AB-BA44-12AF7D5D9C23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Une semaine, cinq personnes, une méthode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Frise"/>
          <p:cNvSpPr/>
          <p:nvPr/>
        </p:nvSpPr>
        <p:spPr>
          <a:xfrm>
            <a:off x="822960" y="1536120"/>
            <a:ext cx="7498080" cy="360"/>
          </a:xfrm>
          <a:prstGeom prst="line">
            <a:avLst/>
          </a:prstGeom>
          <a:ln w="25400">
            <a:solidFill>
              <a:srgbClr val="9FB3C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Jour Lun"/>
          <p:cNvSpPr/>
          <p:nvPr/>
        </p:nvSpPr>
        <p:spPr>
          <a:xfrm>
            <a:off x="822960" y="1216080"/>
            <a:ext cx="639720" cy="6397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822960" y="12160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Lun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4"/>
          <p:cNvSpPr/>
          <p:nvPr/>
        </p:nvSpPr>
        <p:spPr>
          <a:xfrm>
            <a:off x="457200" y="19659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Idée, matériel, Raspberry Pi, dépôt Git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Jour Mar"/>
          <p:cNvSpPr/>
          <p:nvPr/>
        </p:nvSpPr>
        <p:spPr>
          <a:xfrm>
            <a:off x="2505600" y="1216080"/>
            <a:ext cx="639720" cy="6397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 6"/>
          <p:cNvSpPr/>
          <p:nvPr/>
        </p:nvSpPr>
        <p:spPr>
          <a:xfrm>
            <a:off x="2505600" y="12160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7"/>
          <p:cNvSpPr/>
          <p:nvPr/>
        </p:nvSpPr>
        <p:spPr>
          <a:xfrm>
            <a:off x="2139840" y="19659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Console, serveur, 5 salles, chat, interface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Jour Mer"/>
          <p:cNvSpPr/>
          <p:nvPr/>
        </p:nvSpPr>
        <p:spPr>
          <a:xfrm>
            <a:off x="4187880" y="1216080"/>
            <a:ext cx="639720" cy="6397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 9"/>
          <p:cNvSpPr/>
          <p:nvPr/>
        </p:nvSpPr>
        <p:spPr>
          <a:xfrm>
            <a:off x="4187880" y="12160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Mer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0"/>
          <p:cNvSpPr/>
          <p:nvPr/>
        </p:nvSpPr>
        <p:spPr>
          <a:xfrm>
            <a:off x="3822120" y="19659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Pi en kiosque, historique, partie test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Jour Jeu"/>
          <p:cNvSpPr/>
          <p:nvPr/>
        </p:nvSpPr>
        <p:spPr>
          <a:xfrm>
            <a:off x="5870520" y="1216080"/>
            <a:ext cx="639720" cy="639720"/>
          </a:xfrm>
          <a:prstGeom prst="ellipse">
            <a:avLst/>
          </a:prstGeom>
          <a:solidFill>
            <a:srgbClr val="004379"/>
          </a:solidFill>
          <a:ln w="12700">
            <a:solidFill>
              <a:srgbClr val="00437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 12"/>
          <p:cNvSpPr/>
          <p:nvPr/>
        </p:nvSpPr>
        <p:spPr>
          <a:xfrm>
            <a:off x="5870520" y="12160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Jeu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3"/>
          <p:cNvSpPr/>
          <p:nvPr/>
        </p:nvSpPr>
        <p:spPr>
          <a:xfrm>
            <a:off x="5504760" y="19659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Fiabilité, dossier, poster, présentation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Jour Ven"/>
          <p:cNvSpPr/>
          <p:nvPr/>
        </p:nvSpPr>
        <p:spPr>
          <a:xfrm>
            <a:off x="7552800" y="1216080"/>
            <a:ext cx="639720" cy="639720"/>
          </a:xfrm>
          <a:prstGeom prst="ellipse">
            <a:avLst/>
          </a:prstGeom>
          <a:solidFill>
            <a:srgbClr val="E50043"/>
          </a:solidFill>
          <a:ln w="12700">
            <a:solidFill>
              <a:srgbClr val="E5004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Text 15"/>
          <p:cNvSpPr/>
          <p:nvPr/>
        </p:nvSpPr>
        <p:spPr>
          <a:xfrm>
            <a:off x="7552800" y="1216080"/>
            <a:ext cx="6397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Ven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6"/>
          <p:cNvSpPr/>
          <p:nvPr/>
        </p:nvSpPr>
        <p:spPr>
          <a:xfrm>
            <a:off x="7187040" y="1965960"/>
            <a:ext cx="1371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Soutenance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Outil GitHub"/>
          <p:cNvSpPr/>
          <p:nvPr/>
        </p:nvSpPr>
        <p:spPr>
          <a:xfrm>
            <a:off x="457200" y="3063240"/>
            <a:ext cx="2605680" cy="123408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" name="Pastille GitHub"/>
          <p:cNvSpPr/>
          <p:nvPr/>
        </p:nvSpPr>
        <p:spPr>
          <a:xfrm>
            <a:off x="640080" y="3246120"/>
            <a:ext cx="502560" cy="50256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1" name="Icône GitHub" descr="GitHub"/>
          <p:cNvPicPr/>
          <p:nvPr/>
        </p:nvPicPr>
        <p:blipFill>
          <a:blip r:embed="rId1"/>
          <a:stretch/>
        </p:blipFill>
        <p:spPr>
          <a:xfrm>
            <a:off x="750600" y="335664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Text 19"/>
          <p:cNvSpPr/>
          <p:nvPr/>
        </p:nvSpPr>
        <p:spPr>
          <a:xfrm>
            <a:off x="1280160" y="3108960"/>
            <a:ext cx="1691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GitHub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Une issue par tâche, un jalon par jour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Outil Journal de bord"/>
          <p:cNvSpPr/>
          <p:nvPr/>
        </p:nvSpPr>
        <p:spPr>
          <a:xfrm>
            <a:off x="3246120" y="3063240"/>
            <a:ext cx="2605680" cy="123408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" name="Pastille Journal de bord"/>
          <p:cNvSpPr/>
          <p:nvPr/>
        </p:nvSpPr>
        <p:spPr>
          <a:xfrm>
            <a:off x="3429000" y="3246120"/>
            <a:ext cx="502560" cy="50256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5" name="Icône Journal de bord" descr="Journal de bord"/>
          <p:cNvPicPr/>
          <p:nvPr/>
        </p:nvPicPr>
        <p:blipFill>
          <a:blip r:embed="rId2"/>
          <a:stretch/>
        </p:blipFill>
        <p:spPr>
          <a:xfrm>
            <a:off x="3539520" y="335664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" name="Text 22"/>
          <p:cNvSpPr/>
          <p:nvPr/>
        </p:nvSpPr>
        <p:spPr>
          <a:xfrm>
            <a:off x="4069080" y="3108960"/>
            <a:ext cx="1691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Journal de bord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Une entrée par demi-journée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Outil Rôles tournants"/>
          <p:cNvSpPr/>
          <p:nvPr/>
        </p:nvSpPr>
        <p:spPr>
          <a:xfrm>
            <a:off x="6035040" y="3063240"/>
            <a:ext cx="2605680" cy="123408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rgbClr val="EEF2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" name="Pastille Rôles tournants"/>
          <p:cNvSpPr/>
          <p:nvPr/>
        </p:nvSpPr>
        <p:spPr>
          <a:xfrm>
            <a:off x="6217920" y="3246120"/>
            <a:ext cx="502560" cy="502560"/>
          </a:xfrm>
          <a:prstGeom prst="ellipse">
            <a:avLst/>
          </a:prstGeom>
          <a:solidFill>
            <a:srgbClr val="2BB6B7"/>
          </a:solidFill>
          <a:ln w="12700">
            <a:solidFill>
              <a:srgbClr val="2BB6B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59" name="Icône Rôles tournants" descr="Rôles tournants"/>
          <p:cNvPicPr/>
          <p:nvPr/>
        </p:nvPicPr>
        <p:blipFill>
          <a:blip r:embed="rId3"/>
          <a:stretch/>
        </p:blipFill>
        <p:spPr>
          <a:xfrm>
            <a:off x="6328440" y="3356640"/>
            <a:ext cx="281160" cy="2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Text 25"/>
          <p:cNvSpPr/>
          <p:nvPr/>
        </p:nvSpPr>
        <p:spPr>
          <a:xfrm>
            <a:off x="6858000" y="3108960"/>
            <a:ext cx="169128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Rôles tournants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Pilote, copilote, secrétaire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sldNum" idx="15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BB232A-46ED-4C60-81D4-CDFD2CC5AEB9}" type="slidenum">
              <a:rPr lang="en-US" sz="900" b="0" u="none" strike="noStrike">
                <a:solidFill>
                  <a:schemeClr val="dk2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push dir="u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</p:spTree>
  </p:cSld>
  <p:transition spd="slow">
    <p:fade thruBlk="true"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mediacall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000" fill="hold"/>
                                        <p:tgtEl>
                                          <p:spTgt spid="26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  <p:video>
              <p:cMediaNode>
                <p:cTn>
                  <p:stCondLst>
                    <p:cond delay="indefinite"/>
                  </p:stCondLst>
                </p:cTn>
                <p:tgtEl>
                  <p:spTgt spid="262"/>
                </p:tgtEl>
              </p:cMediaNode>
            </p:video>
            <p:seq>
              <p:cTn id="7" restart="whenNotActive" fill="hold" nodeType="interactiveSeq">
                <p:stCondLst>
                  <p:cond delay="0" evt="onClick">
                    <p:tgtEl>
                      <p:spTgt spid="262"/>
                    </p:tgtEl>
                  </p:cond>
                </p:stCondLst>
                <p:childTnLst>
                  <p:par>
                    <p:cTn id="8" fill="hold">
                      <p:stCondLst>
                        <p:cond delay="0" evt="onClick">
                          <p:tgtEl>
                            <p:spTgt spid="262"/>
                          </p:tgtEl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Class="mediacall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6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title" hasCustomPrompt="1"/>
          </p:nvPr>
        </p:nvSpPr>
        <p:spPr>
          <a:xfrm>
            <a:off x="457200" y="255960"/>
            <a:ext cx="822924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8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À vous de jouer</a:t>
            </a:r>
            <a:endParaRPr lang="fr-F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 1"/>
          <p:cNvSpPr/>
          <p:nvPr/>
        </p:nvSpPr>
        <p:spPr>
          <a:xfrm>
            <a:off x="457200" y="1188720"/>
            <a:ext cx="393156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18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20 minutes pour déjouer le blocus, 2 équipes, 5 salles…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800"/>
              </a:spcAft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et des gestes simples pour la vraie vie.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2"/>
                </a:solidFill>
                <a:effectLst/>
                <a:uFillTx/>
                <a:latin typeface="Calibri"/>
              </a:rPr>
              <a:t>Démo sur la console après la présentation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"/>
          <p:cNvSpPr/>
          <p:nvPr/>
        </p:nvSpPr>
        <p:spPr>
          <a:xfrm>
            <a:off x="457200" y="3017520"/>
            <a:ext cx="393156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Merci !</a:t>
            </a:r>
            <a:endParaRPr lang="fr-F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chemeClr val="accent4"/>
                </a:solidFill>
                <a:effectLst/>
                <a:uFillTx/>
                <a:latin typeface="Arial"/>
                <a:ea typeface="Arial"/>
              </a:rPr>
              <a:t>Des questions ?</a:t>
            </a:r>
            <a:endParaRPr lang="fr-F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Cadre Générique de fin"/>
          <p:cNvSpPr/>
          <p:nvPr/>
        </p:nvSpPr>
        <p:spPr>
          <a:xfrm>
            <a:off x="4782240" y="1124640"/>
            <a:ext cx="3968280" cy="2431800"/>
          </a:xfrm>
          <a:prstGeom prst="roundRect">
            <a:avLst>
              <a:gd name="adj" fmla="val 3008"/>
            </a:avLst>
          </a:prstGeom>
          <a:solidFill>
            <a:srgbClr val="0A0F1A"/>
          </a:solidFill>
          <a:ln w="12700">
            <a:solidFill>
              <a:srgbClr val="0A0F1A"/>
            </a:solidFill>
            <a:round/>
          </a:ln>
          <a:effectLst>
            <a:outerShdw algn="bl" blurRad="101520" dir="5400000" dist="38160" rotWithShape="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267" name="Générique de fin" descr="Générique de fin"/>
          <p:cNvPicPr/>
          <p:nvPr/>
        </p:nvPicPr>
        <p:blipFill>
          <a:blip r:embed="rId1"/>
          <a:stretch/>
        </p:blipFill>
        <p:spPr>
          <a:xfrm>
            <a:off x="4846320" y="1188720"/>
            <a:ext cx="38401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Text 4"/>
          <p:cNvSpPr/>
          <p:nvPr/>
        </p:nvSpPr>
        <p:spPr>
          <a:xfrm>
            <a:off x="4846320" y="360288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Le générique de fin, avec le logo du campus et le score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ldNum" idx="16"/>
          </p:nvPr>
        </p:nvSpPr>
        <p:spPr>
          <a:xfrm>
            <a:off x="8229600" y="4800600"/>
            <a:ext cx="456840" cy="228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6B498CB-1F14-4582-99BA-19017D321211}" type="slidenum">
              <a:rPr lang="en-US" sz="900" b="0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&lt;number&gt;</a:t>
            </a:fld>
            <a:endParaRPr lang="fr-FR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transition spd="med"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Black-out">
  <a:themeElements>
    <a:clrScheme name="Black-out">
      <a:dk1>
        <a:srgbClr val="061428"/>
      </a:dk1>
      <a:lt1>
        <a:srgbClr val="FFFFFF"/>
      </a:lt1>
      <a:dk2>
        <a:srgbClr val="004379"/>
      </a:dk2>
      <a:lt2>
        <a:srgbClr val="EEF2F7"/>
      </a:lt2>
      <a:accent1>
        <a:srgbClr val="E50043"/>
      </a:accent1>
      <a:accent2>
        <a:srgbClr val="2BB6B7"/>
      </a:accent2>
      <a:accent3>
        <a:srgbClr val="004379"/>
      </a:accent3>
      <a:accent4>
        <a:srgbClr val="FF4F7E"/>
      </a:accent4>
      <a:accent5>
        <a:srgbClr val="9FB3C8"/>
      </a:accent5>
      <a:accent6>
        <a:srgbClr val="0C2240"/>
      </a:accent6>
      <a:hlink>
        <a:srgbClr val="004379"/>
      </a:hlink>
      <a:folHlink>
        <a:srgbClr val="5B6B80"/>
      </a:folHlink>
    </a:clrScheme>
    <a:fontScheme name="Black-out">
      <a:majorFont>
        <a:latin typeface="Arial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LibreOffice/26.2.6.3$Linux_X86_64 LibreOffice_project/620$Build-3</Application>
  <AppVersion>15.0000</AppVersion>
  <Words>3473</Words>
  <Paragraphs>190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2026-10-08T07:36:22Z</dcterms:created>
  <dc:creator>Groupe Black-out</dc:creator>
  <dc:description/>
  <dc:language>fr-FR</dc:language>
  <cp:lastModifiedBy/>
  <dcterms:modified xsi:type="dcterms:W3CDTF">2026-10-09T09:35:33Z</dcterms:modified>
  <cp:revision>3</cp:revision>
  <dc:subject>Soutenance du Workshop Escape Tech EPSI M1 2025-2026</dc:subject>
  <dc:title>Black-out — Workshop Escape Tech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Notes">
    <vt:i4>13</vt:i4>
  </property>
  <property fmtid="{D5CDD505-2E9C-101B-9397-08002B2CF9AE}" pid="4" name="PresentationFormat">
    <vt:lpwstr>Affichage à l'écran (16:9)</vt:lpwstr>
  </property>
  <property fmtid="{D5CDD505-2E9C-101B-9397-08002B2CF9AE}" pid="5" name="Slides">
    <vt:i4>13</vt:i4>
  </property>
</Properties>
</file>